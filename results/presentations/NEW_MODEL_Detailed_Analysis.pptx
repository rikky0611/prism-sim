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F4E78"/>
                </a:solidFill>
              </a:defRPr>
            </a:pPr>
            <a:r>
              <a:t>NEW MODEL: Detailed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9260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0">
                <a:solidFill>
                  <a:srgbClr val="4472C4"/>
                </a:solidFill>
              </a:defRPr>
            </a:pPr>
            <a:r>
              <a:t>Timing-Dependent Reminder Effectiveness (90-100% Prevention)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4472C4"/>
                </a:solidFill>
              </a:defRPr>
            </a:pPr>
            <a:r>
              <a:t>Executive Summary: NEW MODEL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680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4472C4"/>
                </a:solidFill>
              </a:defRPr>
            </a:pPr>
            <a:r>
              <a:t>Model Configuration:</a:t>
            </a:r>
          </a:p>
          <a:p>
            <a:pPr>
              <a:defRPr sz="1100" b="0"/>
            </a:pPr>
            <a:r>
              <a:t>• Reminder Effectiveness: 90-100% (timing-dependent, recency decay λ=0.20)</a:t>
            </a:r>
          </a:p>
          <a:p>
            <a:pPr>
              <a:defRPr sz="1100" b="0"/>
            </a:pPr>
            <a:r>
              <a:t>• Training: 50,000 timesteps per model, PPO algorithm</a:t>
            </a:r>
          </a:p>
          <a:p>
            <a:pPr>
              <a:defRPr sz="1100" b="0"/>
            </a:pPr>
            <a:r>
              <a:t>• Evaluation: 100 episodes per model</a:t>
            </a:r>
          </a:p>
          <a:p>
            <a:pPr>
              <a:defRPr sz="1100" b="0"/>
            </a:pPr>
            <a:r>
              <a:t>• Tasks: 7 procedural tasks (8-20 steps)</a:t>
            </a:r>
          </a:p>
          <a:p>
            <a:pPr>
              <a:defRPr sz="1100" b="0"/>
            </a:pPr>
            <a:r>
              <a:t>• Cost Regimes: 3 (Very High Stakes, Balanced, Moderate Low)</a:t>
            </a:r>
          </a:p>
          <a:p>
            <a:pPr>
              <a:defRPr sz="1400" b="0"/>
            </a:pPr>
          </a:p>
          <a:p>
            <a:pPr>
              <a:defRPr sz="1400" b="1"/>
            </a:pPr>
            <a:r>
              <a:t>Overall Performance:</a:t>
            </a:r>
          </a:p>
          <a:p>
            <a:pPr>
              <a:defRPr sz="1100" b="0"/>
            </a:pPr>
            <a:r>
              <a:t>• Mean Improvement over Baselines: 13.92%</a:t>
            </a:r>
          </a:p>
          <a:p>
            <a:pPr>
              <a:defRPr sz="1100" b="0"/>
            </a:pPr>
            <a:r>
              <a:t>• Success Rate: 85.7% (18/21 models)</a:t>
            </a:r>
          </a:p>
          <a:p>
            <a:pPr>
              <a:defRPr sz="1100" b="0"/>
            </a:pPr>
            <a:r>
              <a:t>• Best Case: +30.88%</a:t>
            </a:r>
          </a:p>
          <a:p>
            <a:pPr>
              <a:defRPr sz="1100" b="0">
                <a:solidFill>
                  <a:srgbClr val="C00000"/>
                </a:solidFill>
              </a:defRPr>
            </a:pPr>
            <a:r>
              <a:t>• Worst Case: -22.65%</a:t>
            </a:r>
          </a:p>
          <a:p>
            <a:pPr>
              <a:defRPr sz="1400" b="0"/>
            </a:pPr>
          </a:p>
          <a:p>
            <a:pPr>
              <a:defRPr sz="1400" b="1"/>
            </a:pPr>
            <a:r>
              <a:t>Key Insight:</a:t>
            </a:r>
          </a:p>
          <a:p>
            <a:pPr>
              <a:defRPr sz="1400" b="0"/>
            </a:pPr>
            <a:r>
              <a:t>Despite 90-100% reminder effectiveness, timing-dependent model requires</a:t>
            </a:r>
          </a:p>
          <a:p>
            <a:pPr>
              <a:defRPr sz="1400" b="0"/>
            </a:pPr>
            <a:r>
              <a:t>learning WHEN to remind (continuous timing) vs IF to remind (binary decision).</a:t>
            </a:r>
          </a:p>
          <a:p>
            <a:pPr>
              <a:defRPr sz="1400" b="0"/>
            </a:pPr>
            <a:r>
              <a:t>50k timesteps sufficient for simple tasks, insufficient for complex tasks.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4472C4"/>
                </a:solidFill>
              </a:defRPr>
            </a:pPr>
            <a:r>
              <a:t>NEW MODEL: Technical Specification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680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4472C4"/>
                </a:solidFill>
              </a:defRPr>
            </a:pPr>
            <a:r>
              <a:t>Timing-Dependent Reminder Effectiveness Model</a:t>
            </a:r>
          </a:p>
          <a:p>
            <a:pPr>
              <a:defRPr sz="1400" b="1"/>
            </a:pPr>
            <a:r>
              <a:t>Dual-Component Memory System:</a:t>
            </a:r>
          </a:p>
          <a:p>
            <a:pPr>
              <a:defRPr sz="1100" b="0"/>
            </a:pPr>
            <a:r>
              <a:t>• Base Memory (m): Long-term procedural knowledge, slow decay (λ=0.05)</a:t>
            </a:r>
          </a:p>
          <a:p>
            <a:pPr>
              <a:defRPr sz="1100" b="0"/>
            </a:pPr>
            <a:r>
              <a:t>• Recency Factor (r): Short-term reminder freshness, fast decay (λ=0.20)</a:t>
            </a:r>
          </a:p>
          <a:p>
            <a:pPr>
              <a:defRPr sz="1400" b="1"/>
            </a:pPr>
            <a:r>
              <a:t>Combined Failure Model:</a:t>
            </a:r>
          </a:p>
          <a:p>
            <a:pPr>
              <a:defRPr sz="1400" b="0">
                <a:solidFill>
                  <a:srgbClr val="646464"/>
                </a:solidFill>
              </a:defRPr>
            </a:pPr>
            <a:r>
              <a:t>f(m, r) = f0_base × exp(-k × m) × (1 - ε_recency × r)</a:t>
            </a:r>
          </a:p>
          <a:p>
            <a:pPr>
              <a:defRPr sz="1400" b="1">
                <a:solidFill>
                  <a:srgbClr val="646464"/>
                </a:solidFill>
              </a:defRPr>
            </a:pPr>
            <a:r>
              <a:t>where:</a:t>
            </a:r>
          </a:p>
          <a:p>
            <a:pPr>
              <a:defRPr sz="1100" b="0"/>
            </a:pPr>
            <a:r>
              <a:t>• f0_base = 0.6 (60% baseline failure probability)</a:t>
            </a:r>
          </a:p>
          <a:p>
            <a:pPr>
              <a:defRPr sz="1100" b="0"/>
            </a:pPr>
            <a:r>
              <a:t>• k = 2.0 (memory effectiveness coefficient)</a:t>
            </a:r>
          </a:p>
          <a:p>
            <a:pPr>
              <a:defRPr sz="1100" b="0"/>
            </a:pPr>
            <a:r>
              <a:t>• ε_recency = 0.95 (95% maximum prevention from recent reminder)</a:t>
            </a:r>
          </a:p>
          <a:p>
            <a:pPr>
              <a:defRPr sz="1100" b="0"/>
            </a:pPr>
            <a:r>
              <a:t>• r = exp(-0.20 × ticks_since_reminder)</a:t>
            </a:r>
          </a:p>
          <a:p>
            <a:pPr>
              <a:defRPr sz="1400" b="1"/>
            </a:pPr>
            <a:r>
              <a:t>Effectiveness Curve:</a:t>
            </a:r>
          </a:p>
          <a:p>
            <a:pPr>
              <a:defRPr sz="1100" b="0"/>
            </a:pPr>
            <a:r>
              <a:t>• 0-2 ticks after reminder: 97-99% prevention ✓</a:t>
            </a:r>
          </a:p>
          <a:p>
            <a:pPr>
              <a:defRPr sz="1100" b="0"/>
            </a:pPr>
            <a:r>
              <a:t>• 3-5 ticks after reminder: 73-97% prevention ✓</a:t>
            </a:r>
          </a:p>
          <a:p>
            <a:pPr>
              <a:defRPr sz="1100" b="0"/>
            </a:pPr>
            <a:r>
              <a:t>• 6-10 ticks: 64-92% prevention</a:t>
            </a:r>
          </a:p>
          <a:p>
            <a:pPr>
              <a:defRPr sz="1100" b="0"/>
            </a:pPr>
            <a:r>
              <a:t>• 20+ ticks: ~46% prevention (back to base memory only)</a:t>
            </a:r>
          </a:p>
          <a:p>
            <a:pPr>
              <a:defRPr sz="1400" b="1"/>
            </a:pPr>
            <a:r>
              <a:t>Observation Noise:</a:t>
            </a:r>
          </a:p>
          <a:p>
            <a:pPr>
              <a:defRPr sz="1100" b="0"/>
            </a:pPr>
            <a:r>
              <a:t>• 20% Gaussian noise on all observations (memory states, step progress)</a:t>
            </a:r>
          </a:p>
          <a:p>
            <a:pPr>
              <a:defRPr sz="1100" b="0"/>
            </a:pPr>
            <a:r>
              <a:t>• Simulates partial observability in real-world scenarios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4472C4"/>
                </a:solidFill>
              </a:defRPr>
            </a:pPr>
            <a:r>
              <a:t>Regime Summary: Very High Stakes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4472C4"/>
                </a:solidFill>
              </a:defRPr>
            </a:pPr>
            <a:r>
              <a:t>Surgery/Critical - failures extremely costly</a:t>
            </a:r>
          </a:p>
          <a:p>
            <a:pPr>
              <a:defRPr sz="1100"/>
            </a:pPr>
            <a:r>
              <a:t>c_int=2.0, c_fail=30.0, ratio=15.0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920240"/>
            <a:ext cx="7680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4472C4"/>
                </a:solidFill>
              </a:defRPr>
            </a:pPr>
            <a:r>
              <a:t>Performance Across All Tasks</a:t>
            </a:r>
          </a:p>
          <a:p>
            <a:pPr>
              <a:defRPr sz="1100" b="1"/>
            </a:pPr>
            <a:r>
              <a:t>Task               Steps   Improvement   Interrupts   Failures  </a:t>
            </a:r>
          </a:p>
          <a:p>
            <a:pPr>
              <a:defRPr sz="1000">
                <a:solidFill>
                  <a:srgbClr val="008000"/>
                </a:solidFill>
              </a:defRPr>
            </a:pPr>
            <a:r>
              <a:t>make cereal        8        +30.88%         0.00        4.76</a:t>
            </a:r>
          </a:p>
          <a:p>
            <a:pPr>
              <a:defRPr sz="1000">
                <a:solidFill>
                  <a:srgbClr val="008000"/>
                </a:solidFill>
              </a:defRPr>
            </a:pPr>
            <a:r>
              <a:t>make coffee        8        +24.68%         0.00        4.76</a:t>
            </a:r>
          </a:p>
          <a:p>
            <a:pPr>
              <a:defRPr sz="1000">
                <a:solidFill>
                  <a:srgbClr val="008000"/>
                </a:solidFill>
              </a:defRPr>
            </a:pPr>
            <a:r>
              <a:t>make tea           9        +28.31%         0.00        5.48</a:t>
            </a:r>
          </a:p>
          <a:p>
            <a:pPr>
              <a:defRPr sz="1000">
                <a:solidFill>
                  <a:srgbClr val="008000"/>
                </a:solidFill>
              </a:defRPr>
            </a:pPr>
            <a:r>
              <a:t>make sandwich      9        +23.66%         0.00        5.48</a:t>
            </a:r>
          </a:p>
          <a:p>
            <a:pPr>
              <a:defRPr sz="1000">
                <a:solidFill>
                  <a:srgbClr val="008000"/>
                </a:solidFill>
              </a:defRPr>
            </a:pPr>
            <a:r>
              <a:t>cooking            14        +5.52%         0.00        8.58</a:t>
            </a:r>
          </a:p>
          <a:p>
            <a:pPr>
              <a:defRPr sz="1000">
                <a:solidFill>
                  <a:srgbClr val="C00000"/>
                </a:solidFill>
              </a:defRPr>
            </a:pPr>
            <a:r>
              <a:t>make stencil       17       -22.65%         8.46       10.37</a:t>
            </a:r>
          </a:p>
          <a:p>
            <a:pPr>
              <a:defRPr sz="1000">
                <a:solidFill>
                  <a:srgbClr val="008000"/>
                </a:solidFill>
              </a:defRPr>
            </a:pPr>
            <a:r>
              <a:t>latte making       20        +3.45%         0.00       11.92</a:t>
            </a:r>
          </a:p>
          <a:p/>
          <a:p>
            <a:pPr>
              <a:defRPr sz="1100" b="1">
                <a:solidFill>
                  <a:srgbClr val="008000"/>
                </a:solidFill>
              </a:defRPr>
            </a:pPr>
            <a:r>
              <a:t>Mean Improvement: +13.41%  |  Success Rate: 85.7% (6/7 tasks)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4472C4"/>
                </a:solidFill>
              </a:defRPr>
            </a:pPr>
            <a:r>
              <a:t>Make Cereal - Very High Stakes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4114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4472C4"/>
                </a:solidFill>
              </a:defRPr>
            </a:pPr>
            <a:r>
              <a:t>Task Overview</a:t>
            </a:r>
          </a:p>
          <a:p>
            <a:pPr>
              <a:defRPr sz="1100"/>
            </a:pPr>
            <a:r>
              <a:t>• Domain: Cooking</a:t>
            </a:r>
          </a:p>
          <a:p>
            <a:pPr>
              <a:defRPr sz="1100"/>
            </a:pPr>
            <a:r>
              <a:t>• Steps: 8</a:t>
            </a:r>
          </a:p>
          <a:p>
            <a:pPr>
              <a:defRPr sz="1100"/>
            </a:pPr>
            <a:r>
              <a:t>• Base Failure Cost: 10.0</a:t>
            </a:r>
          </a:p>
          <a:p>
            <a:pPr>
              <a:defRPr sz="1100"/>
            </a:pPr>
            <a:r>
              <a:t>• Interruption Cost: 5.0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9456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4472C4"/>
                </a:solidFill>
              </a:defRPr>
            </a:pPr>
            <a:r>
              <a:t>Cost Regime</a:t>
            </a:r>
          </a:p>
          <a:p>
            <a:pPr>
              <a:defRPr sz="1100"/>
            </a:pPr>
            <a:r>
              <a:t>• Interruption Cost: 2.0</a:t>
            </a:r>
          </a:p>
          <a:p>
            <a:pPr>
              <a:defRPr sz="1100"/>
            </a:pPr>
            <a:r>
              <a:t>• Failure Cost: 30.0</a:t>
            </a:r>
          </a:p>
          <a:p>
            <a:pPr>
              <a:defRPr sz="1100"/>
            </a:pPr>
            <a:r>
              <a:t>• Ratio: 15.0 (Surgery/Critical - failures extremely costly)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108960"/>
            <a:ext cx="4114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4472C4"/>
                </a:solidFill>
              </a:defRPr>
            </a:pPr>
            <a:r>
              <a:t>Step-by-Step Failure Costs</a:t>
            </a:r>
          </a:p>
          <a:p>
            <a:pPr>
              <a:defRPr sz="1100" b="1"/>
            </a:pPr>
            <a:r>
              <a:t>Critical Steps (Top 8):</a:t>
            </a:r>
          </a:p>
          <a:p>
            <a:pPr>
              <a:defRPr sz="1000"/>
            </a:pPr>
            <a:r>
              <a:t>  5. pour_milk: 13.0 (×1.3)</a:t>
            </a:r>
          </a:p>
          <a:p>
            <a:pPr>
              <a:defRPr sz="1000"/>
            </a:pPr>
            <a:r>
              <a:t>  4. pour_cereal: 12.0 (×1.2)</a:t>
            </a:r>
          </a:p>
          <a:p>
            <a:pPr>
              <a:defRPr sz="1000"/>
            </a:pPr>
            <a:r>
              <a:t>  1. get_bowl: 10.0 (×1.0)</a:t>
            </a:r>
          </a:p>
          <a:p>
            <a:pPr>
              <a:defRPr sz="1000"/>
            </a:pPr>
            <a:r>
              <a:t>  2. get_cereal: 10.0 (×1.0)</a:t>
            </a:r>
          </a:p>
          <a:p>
            <a:pPr>
              <a:defRPr sz="1000"/>
            </a:pPr>
            <a:r>
              <a:t>  3. get_milk: 10.0 (×1.0)</a:t>
            </a:r>
          </a:p>
          <a:p>
            <a:pPr>
              <a:defRPr sz="1000"/>
            </a:pPr>
            <a:r>
              <a:t>  6. get_spoon: 10.0 (×1.0)</a:t>
            </a:r>
          </a:p>
          <a:p>
            <a:pPr>
              <a:defRPr sz="1000"/>
            </a:pPr>
            <a:r>
              <a:t>  7. return_items: 10.0 (×1.0)</a:t>
            </a:r>
          </a:p>
          <a:p>
            <a:pPr>
              <a:defRPr sz="1000"/>
            </a:pPr>
            <a:r>
              <a:t>  8. serve_cereal: 10.0 (×1.0)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005840"/>
            <a:ext cx="4114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4472C4"/>
                </a:solidFill>
              </a:defRPr>
            </a:pPr>
            <a:r>
              <a:t>Performance Comparison</a:t>
            </a:r>
          </a:p>
          <a:p>
            <a:pPr>
              <a:defRPr sz="1000" b="1"/>
            </a:pPr>
            <a:r>
              <a:t>Policy          Reward     Fails    Ints    </a:t>
            </a:r>
          </a:p>
          <a:p>
            <a:pPr>
              <a:defRPr sz="1000"/>
            </a:pPr>
            <a:r>
              <a:t>Random          -189.5     3.56     21.09   </a:t>
            </a:r>
          </a:p>
          <a:p>
            <a:pPr>
              <a:defRPr sz="1000"/>
            </a:pPr>
            <a:r>
              <a:t>Proactive       -181.9     1.42     28.59   </a:t>
            </a:r>
          </a:p>
          <a:p>
            <a:pPr>
              <a:defRPr sz="1000"/>
            </a:pPr>
            <a:r>
              <a:t>Reactive        -183.9     1.11     30.34   </a:t>
            </a:r>
          </a:p>
          <a:p>
            <a:pPr>
              <a:defRPr sz="1000" b="1">
                <a:solidFill>
                  <a:srgbClr val="008000"/>
                </a:solidFill>
              </a:defRPr>
            </a:pPr>
            <a:r>
              <a:t>RL_PPO          -125.8     4.76     0.00   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3383280"/>
            <a:ext cx="4114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4472C4"/>
                </a:solidFill>
              </a:defRPr>
            </a:pPr>
            <a:r>
              <a:t>RL Performance</a:t>
            </a:r>
          </a:p>
          <a:p>
            <a:pPr>
              <a:defRPr sz="1100"/>
            </a:pPr>
            <a:r>
              <a:t>• Improvement over Best Baseline: +30.88%</a:t>
            </a:r>
          </a:p>
          <a:p>
            <a:pPr>
              <a:defRPr sz="1100"/>
            </a:pPr>
            <a:r>
              <a:t>• Best Baseline: Proactive</a:t>
            </a:r>
          </a:p>
          <a:p>
            <a:pPr>
              <a:defRPr sz="1100">
                <a:solidFill>
                  <a:srgbClr val="008000"/>
                </a:solidFill>
              </a:defRPr>
            </a:pPr>
            <a:r>
              <a:t>• Status: ✓ Success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4572000"/>
            <a:ext cx="4114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4472C4"/>
                </a:solidFill>
              </a:defRPr>
            </a:pPr>
            <a:r>
              <a:t>Intervention Patterns</a:t>
            </a:r>
          </a:p>
          <a:p>
            <a:pPr>
              <a:defRPr sz="1100"/>
            </a:pPr>
            <a:r>
              <a:t>• Mean Interruptions: 0.00</a:t>
            </a:r>
          </a:p>
          <a:p>
            <a:pPr>
              <a:defRPr sz="1100"/>
            </a:pPr>
            <a:r>
              <a:t>• Intervention Rate: 0.0% of steps</a:t>
            </a:r>
          </a:p>
          <a:p>
            <a:pPr>
              <a:defRPr sz="1100"/>
            </a:pPr>
            <a:r>
              <a:t>• Mean Failures: 4.76</a:t>
            </a:r>
          </a:p>
          <a:p>
            <a:pPr>
              <a:defRPr sz="1100"/>
            </a:pPr>
            <a:r>
              <a:t>• Strategy: Strategic Silence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4472C4"/>
                </a:solidFill>
              </a:defRPr>
            </a:pPr>
            <a:r>
              <a:t>Make Coffee - Very High Stakes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4114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4472C4"/>
                </a:solidFill>
              </a:defRPr>
            </a:pPr>
            <a:r>
              <a:t>Task Overview</a:t>
            </a:r>
          </a:p>
          <a:p>
            <a:pPr>
              <a:defRPr sz="1100"/>
            </a:pPr>
            <a:r>
              <a:t>• Domain: Cooking</a:t>
            </a:r>
          </a:p>
          <a:p>
            <a:pPr>
              <a:defRPr sz="1100"/>
            </a:pPr>
            <a:r>
              <a:t>• Steps: 8</a:t>
            </a:r>
          </a:p>
          <a:p>
            <a:pPr>
              <a:defRPr sz="1100"/>
            </a:pPr>
            <a:r>
              <a:t>• Base Failure Cost: 12.0</a:t>
            </a:r>
          </a:p>
          <a:p>
            <a:pPr>
              <a:defRPr sz="1100"/>
            </a:pPr>
            <a:r>
              <a:t>• Interruption Cost: 5.0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9456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4472C4"/>
                </a:solidFill>
              </a:defRPr>
            </a:pPr>
            <a:r>
              <a:t>Cost Regime</a:t>
            </a:r>
          </a:p>
          <a:p>
            <a:pPr>
              <a:defRPr sz="1100"/>
            </a:pPr>
            <a:r>
              <a:t>• Interruption Cost: 2.0</a:t>
            </a:r>
          </a:p>
          <a:p>
            <a:pPr>
              <a:defRPr sz="1100"/>
            </a:pPr>
            <a:r>
              <a:t>• Failure Cost: 30.0</a:t>
            </a:r>
          </a:p>
          <a:p>
            <a:pPr>
              <a:defRPr sz="1100"/>
            </a:pPr>
            <a:r>
              <a:t>• Ratio: 15.0 (Surgery/Critical - failures extremely costly)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108960"/>
            <a:ext cx="4114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4472C4"/>
                </a:solidFill>
              </a:defRPr>
            </a:pPr>
            <a:r>
              <a:t>Step-by-Step Failure Costs</a:t>
            </a:r>
          </a:p>
          <a:p>
            <a:pPr>
              <a:defRPr sz="1100" b="1"/>
            </a:pPr>
            <a:r>
              <a:t>Critical Steps (Top 8):</a:t>
            </a:r>
          </a:p>
          <a:p>
            <a:pPr>
              <a:defRPr sz="1000">
                <a:solidFill>
                  <a:srgbClr val="FF8C00"/>
                </a:solidFill>
              </a:defRPr>
            </a:pPr>
            <a:r>
              <a:t>  6. brew_coffee: 21.6 (×1.8)</a:t>
            </a:r>
          </a:p>
          <a:p>
            <a:pPr>
              <a:defRPr sz="1000"/>
            </a:pPr>
            <a:r>
              <a:t>  4. insert_pod: 15.6 (×1.3)</a:t>
            </a:r>
          </a:p>
          <a:p>
            <a:pPr>
              <a:defRPr sz="1000"/>
            </a:pPr>
            <a:r>
              <a:t>  3. add_water: 14.4 (×1.2)</a:t>
            </a:r>
          </a:p>
          <a:p>
            <a:pPr>
              <a:defRPr sz="1000"/>
            </a:pPr>
            <a:r>
              <a:t>  5. place_mug: 14.4 (×1.2)</a:t>
            </a:r>
          </a:p>
          <a:p>
            <a:pPr>
              <a:defRPr sz="1000"/>
            </a:pPr>
            <a:r>
              <a:t>  7. remove_pod: 13.2 (×1.1)</a:t>
            </a:r>
          </a:p>
          <a:p>
            <a:pPr>
              <a:defRPr sz="1000"/>
            </a:pPr>
            <a:r>
              <a:t>  1. get_mug: 12.0 (×1.0)</a:t>
            </a:r>
          </a:p>
          <a:p>
            <a:pPr>
              <a:defRPr sz="1000"/>
            </a:pPr>
            <a:r>
              <a:t>  2. get_coffee_pod: 12.0 (×1.0)</a:t>
            </a:r>
          </a:p>
          <a:p>
            <a:pPr>
              <a:defRPr sz="1000"/>
            </a:pPr>
            <a:r>
              <a:t>  8. serve_coffee: 12.0 (×1.0)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005840"/>
            <a:ext cx="4114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4472C4"/>
                </a:solidFill>
              </a:defRPr>
            </a:pPr>
            <a:r>
              <a:t>Performance Comparison</a:t>
            </a:r>
          </a:p>
          <a:p>
            <a:pPr>
              <a:defRPr sz="1000" b="1"/>
            </a:pPr>
            <a:r>
              <a:t>Policy          Reward     Fails    Ints    </a:t>
            </a:r>
          </a:p>
          <a:p>
            <a:pPr>
              <a:defRPr sz="1000"/>
            </a:pPr>
            <a:r>
              <a:t>Random          -206.0     3.56     21.09   </a:t>
            </a:r>
          </a:p>
          <a:p>
            <a:pPr>
              <a:defRPr sz="1000"/>
            </a:pPr>
            <a:r>
              <a:t>Proactive       -190.9     1.42     28.59   </a:t>
            </a:r>
          </a:p>
          <a:p>
            <a:pPr>
              <a:defRPr sz="1000"/>
            </a:pPr>
            <a:r>
              <a:t>Reactive        -190.8     1.11     30.34   </a:t>
            </a:r>
          </a:p>
          <a:p>
            <a:pPr>
              <a:defRPr sz="1000" b="1">
                <a:solidFill>
                  <a:srgbClr val="008000"/>
                </a:solidFill>
              </a:defRPr>
            </a:pPr>
            <a:r>
              <a:t>RL_PPO          -143.7     4.76     0.00   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3383280"/>
            <a:ext cx="4114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4472C4"/>
                </a:solidFill>
              </a:defRPr>
            </a:pPr>
            <a:r>
              <a:t>RL Performance</a:t>
            </a:r>
          </a:p>
          <a:p>
            <a:pPr>
              <a:defRPr sz="1100"/>
            </a:pPr>
            <a:r>
              <a:t>• Improvement over Best Baseline: +24.68%</a:t>
            </a:r>
          </a:p>
          <a:p>
            <a:pPr>
              <a:defRPr sz="1100"/>
            </a:pPr>
            <a:r>
              <a:t>• Best Baseline: Reactive</a:t>
            </a:r>
          </a:p>
          <a:p>
            <a:pPr>
              <a:defRPr sz="1100">
                <a:solidFill>
                  <a:srgbClr val="008000"/>
                </a:solidFill>
              </a:defRPr>
            </a:pPr>
            <a:r>
              <a:t>• Status: ✓ Success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4572000"/>
            <a:ext cx="4114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4472C4"/>
                </a:solidFill>
              </a:defRPr>
            </a:pPr>
            <a:r>
              <a:t>Intervention Patterns</a:t>
            </a:r>
          </a:p>
          <a:p>
            <a:pPr>
              <a:defRPr sz="1100"/>
            </a:pPr>
            <a:r>
              <a:t>• Mean Interruptions: 0.00</a:t>
            </a:r>
          </a:p>
          <a:p>
            <a:pPr>
              <a:defRPr sz="1100"/>
            </a:pPr>
            <a:r>
              <a:t>• Intervention Rate: 0.0% of steps</a:t>
            </a:r>
          </a:p>
          <a:p>
            <a:pPr>
              <a:defRPr sz="1100"/>
            </a:pPr>
            <a:r>
              <a:t>• Mean Failures: 4.76</a:t>
            </a:r>
          </a:p>
          <a:p>
            <a:pPr>
              <a:defRPr sz="1100"/>
            </a:pPr>
            <a:r>
              <a:t>• Strategy: Strategic Silence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4472C4"/>
                </a:solidFill>
              </a:defRPr>
            </a:pPr>
            <a:r>
              <a:t>Make Tea - Very High Stakes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4114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4472C4"/>
                </a:solidFill>
              </a:defRPr>
            </a:pPr>
            <a:r>
              <a:t>Task Overview</a:t>
            </a:r>
          </a:p>
          <a:p>
            <a:pPr>
              <a:defRPr sz="1100"/>
            </a:pPr>
            <a:r>
              <a:t>• Domain: Cooking</a:t>
            </a:r>
          </a:p>
          <a:p>
            <a:pPr>
              <a:defRPr sz="1100"/>
            </a:pPr>
            <a:r>
              <a:t>• Steps: 9</a:t>
            </a:r>
          </a:p>
          <a:p>
            <a:pPr>
              <a:defRPr sz="1100"/>
            </a:pPr>
            <a:r>
              <a:t>• Base Failure Cost: 12.0</a:t>
            </a:r>
          </a:p>
          <a:p>
            <a:pPr>
              <a:defRPr sz="1100"/>
            </a:pPr>
            <a:r>
              <a:t>• Interruption Cost: 5.0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9456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4472C4"/>
                </a:solidFill>
              </a:defRPr>
            </a:pPr>
            <a:r>
              <a:t>Cost Regime</a:t>
            </a:r>
          </a:p>
          <a:p>
            <a:pPr>
              <a:defRPr sz="1100"/>
            </a:pPr>
            <a:r>
              <a:t>• Interruption Cost: 2.0</a:t>
            </a:r>
          </a:p>
          <a:p>
            <a:pPr>
              <a:defRPr sz="1100"/>
            </a:pPr>
            <a:r>
              <a:t>• Failure Cost: 30.0</a:t>
            </a:r>
          </a:p>
          <a:p>
            <a:pPr>
              <a:defRPr sz="1100"/>
            </a:pPr>
            <a:r>
              <a:t>• Ratio: 15.0 (Surgery/Critical - failures extremely costly)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108960"/>
            <a:ext cx="4114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4472C4"/>
                </a:solidFill>
              </a:defRPr>
            </a:pPr>
            <a:r>
              <a:t>Step-by-Step Failure Costs</a:t>
            </a:r>
          </a:p>
          <a:p>
            <a:pPr>
              <a:defRPr sz="1100" b="1"/>
            </a:pPr>
            <a:r>
              <a:t>Critical Steps (Top 8):</a:t>
            </a:r>
          </a:p>
          <a:p>
            <a:pPr>
              <a:defRPr sz="1000">
                <a:solidFill>
                  <a:srgbClr val="FF8C00"/>
                </a:solidFill>
              </a:defRPr>
            </a:pPr>
            <a:r>
              <a:t>  6. pour_water: 21.6 (×1.8)</a:t>
            </a:r>
          </a:p>
          <a:p>
            <a:pPr>
              <a:defRPr sz="1000">
                <a:solidFill>
                  <a:srgbClr val="FF8C00"/>
                </a:solidFill>
              </a:defRPr>
            </a:pPr>
            <a:r>
              <a:t>  4. heat_water: 18.0 (×1.5)</a:t>
            </a:r>
          </a:p>
          <a:p>
            <a:pPr>
              <a:defRPr sz="1000"/>
            </a:pPr>
            <a:r>
              <a:t>  7. steep_tea: 14.4 (×1.2)</a:t>
            </a:r>
          </a:p>
          <a:p>
            <a:pPr>
              <a:defRPr sz="1000"/>
            </a:pPr>
            <a:r>
              <a:t>  3. fill_kettle: 13.2 (×1.1)</a:t>
            </a:r>
          </a:p>
          <a:p>
            <a:pPr>
              <a:defRPr sz="1000"/>
            </a:pPr>
            <a:r>
              <a:t>  8. remove_tea_bag: 13.2 (×1.1)</a:t>
            </a:r>
          </a:p>
          <a:p>
            <a:pPr>
              <a:defRPr sz="1000"/>
            </a:pPr>
            <a:r>
              <a:t>  1. get_mug: 12.0 (×1.0)</a:t>
            </a:r>
          </a:p>
          <a:p>
            <a:pPr>
              <a:defRPr sz="1000"/>
            </a:pPr>
            <a:r>
              <a:t>  2. get_tea_bag: 12.0 (×1.0)</a:t>
            </a:r>
          </a:p>
          <a:p>
            <a:pPr>
              <a:defRPr sz="1000"/>
            </a:pPr>
            <a:r>
              <a:t>  5. place_tea_bag: 12.0 (×1.0)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005840"/>
            <a:ext cx="4114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4472C4"/>
                </a:solidFill>
              </a:defRPr>
            </a:pPr>
            <a:r>
              <a:t>Performance Comparison</a:t>
            </a:r>
          </a:p>
          <a:p>
            <a:pPr>
              <a:defRPr sz="1000" b="1"/>
            </a:pPr>
            <a:r>
              <a:t>Policy          Reward     Fails    Ints    </a:t>
            </a:r>
          </a:p>
          <a:p>
            <a:pPr>
              <a:defRPr sz="1000"/>
            </a:pPr>
            <a:r>
              <a:t>Random          -233.9     4.53     23.00   </a:t>
            </a:r>
          </a:p>
          <a:p>
            <a:pPr>
              <a:defRPr sz="1000"/>
            </a:pPr>
            <a:r>
              <a:t>Proactive       -217.9     1.49     33.31   </a:t>
            </a:r>
          </a:p>
          <a:p>
            <a:pPr>
              <a:defRPr sz="1000"/>
            </a:pPr>
            <a:r>
              <a:t>Reactive        -222.0     1.30     35.27   </a:t>
            </a:r>
          </a:p>
          <a:p>
            <a:pPr>
              <a:defRPr sz="1000" b="1">
                <a:solidFill>
                  <a:srgbClr val="008000"/>
                </a:solidFill>
              </a:defRPr>
            </a:pPr>
            <a:r>
              <a:t>RL_PPO          -156.2     5.48     0.00   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3383280"/>
            <a:ext cx="4114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4472C4"/>
                </a:solidFill>
              </a:defRPr>
            </a:pPr>
            <a:r>
              <a:t>RL Performance</a:t>
            </a:r>
          </a:p>
          <a:p>
            <a:pPr>
              <a:defRPr sz="1100"/>
            </a:pPr>
            <a:r>
              <a:t>• Improvement over Best Baseline: +28.31%</a:t>
            </a:r>
          </a:p>
          <a:p>
            <a:pPr>
              <a:defRPr sz="1100"/>
            </a:pPr>
            <a:r>
              <a:t>• Best Baseline: Proactive</a:t>
            </a:r>
          </a:p>
          <a:p>
            <a:pPr>
              <a:defRPr sz="1100">
                <a:solidFill>
                  <a:srgbClr val="008000"/>
                </a:solidFill>
              </a:defRPr>
            </a:pPr>
            <a:r>
              <a:t>• Status: ✓ Success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4572000"/>
            <a:ext cx="4114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4472C4"/>
                </a:solidFill>
              </a:defRPr>
            </a:pPr>
            <a:r>
              <a:t>Intervention Patterns</a:t>
            </a:r>
          </a:p>
          <a:p>
            <a:pPr>
              <a:defRPr sz="1100"/>
            </a:pPr>
            <a:r>
              <a:t>• Mean Interruptions: 0.00</a:t>
            </a:r>
          </a:p>
          <a:p>
            <a:pPr>
              <a:defRPr sz="1100"/>
            </a:pPr>
            <a:r>
              <a:t>• Intervention Rate: 0.0% of steps</a:t>
            </a:r>
          </a:p>
          <a:p>
            <a:pPr>
              <a:defRPr sz="1100"/>
            </a:pPr>
            <a:r>
              <a:t>• Mean Failures: 5.48</a:t>
            </a:r>
          </a:p>
          <a:p>
            <a:pPr>
              <a:defRPr sz="1100"/>
            </a:pPr>
            <a:r>
              <a:t>• Strategy: Strategic Silence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4472C4"/>
                </a:solidFill>
              </a:defRPr>
            </a:pPr>
            <a:r>
              <a:t>Make Sandwich - Very High Stakes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4114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4472C4"/>
                </a:solidFill>
              </a:defRPr>
            </a:pPr>
            <a:r>
              <a:t>Task Overview</a:t>
            </a:r>
          </a:p>
          <a:p>
            <a:pPr>
              <a:defRPr sz="1100"/>
            </a:pPr>
            <a:r>
              <a:t>• Domain: Cooking</a:t>
            </a:r>
          </a:p>
          <a:p>
            <a:pPr>
              <a:defRPr sz="1100"/>
            </a:pPr>
            <a:r>
              <a:t>• Steps: 9</a:t>
            </a:r>
          </a:p>
          <a:p>
            <a:pPr>
              <a:defRPr sz="1100"/>
            </a:pPr>
            <a:r>
              <a:t>• Base Failure Cost: 15.0</a:t>
            </a:r>
          </a:p>
          <a:p>
            <a:pPr>
              <a:defRPr sz="1100"/>
            </a:pPr>
            <a:r>
              <a:t>• Interruption Cost: 5.0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9456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4472C4"/>
                </a:solidFill>
              </a:defRPr>
            </a:pPr>
            <a:r>
              <a:t>Cost Regime</a:t>
            </a:r>
          </a:p>
          <a:p>
            <a:pPr>
              <a:defRPr sz="1100"/>
            </a:pPr>
            <a:r>
              <a:t>• Interruption Cost: 2.0</a:t>
            </a:r>
          </a:p>
          <a:p>
            <a:pPr>
              <a:defRPr sz="1100"/>
            </a:pPr>
            <a:r>
              <a:t>• Failure Cost: 30.0</a:t>
            </a:r>
          </a:p>
          <a:p>
            <a:pPr>
              <a:defRPr sz="1100"/>
            </a:pPr>
            <a:r>
              <a:t>• Ratio: 15.0 (Surgery/Critical - failures extremely costly)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108960"/>
            <a:ext cx="4114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4472C4"/>
                </a:solidFill>
              </a:defRPr>
            </a:pPr>
            <a:r>
              <a:t>Step-by-Step Failure Costs</a:t>
            </a:r>
          </a:p>
          <a:p>
            <a:pPr>
              <a:defRPr sz="1100" b="1"/>
            </a:pPr>
            <a:r>
              <a:t>Critical Steps (Top 8):</a:t>
            </a:r>
          </a:p>
          <a:p>
            <a:pPr>
              <a:defRPr sz="1000">
                <a:solidFill>
                  <a:srgbClr val="FF8C00"/>
                </a:solidFill>
              </a:defRPr>
            </a:pPr>
            <a:r>
              <a:t>  8. prepare_sandwich: 22.5 (×1.5)</a:t>
            </a:r>
          </a:p>
          <a:p>
            <a:pPr>
              <a:defRPr sz="1000"/>
            </a:pPr>
            <a:r>
              <a:t>  7. add_fillings: 19.5 (×1.3)</a:t>
            </a:r>
          </a:p>
          <a:p>
            <a:pPr>
              <a:defRPr sz="1000"/>
            </a:pPr>
            <a:r>
              <a:t>  6. spread_condiments: 18.0 (×1.2)</a:t>
            </a:r>
          </a:p>
          <a:p>
            <a:pPr>
              <a:defRPr sz="1000"/>
            </a:pPr>
            <a:r>
              <a:t>  5. prepare_bread: 16.5 (×1.1)</a:t>
            </a:r>
          </a:p>
          <a:p>
            <a:pPr>
              <a:defRPr sz="1000"/>
            </a:pPr>
            <a:r>
              <a:t>  1. get_ingredients: 15.0 (×1.0)</a:t>
            </a:r>
          </a:p>
          <a:p>
            <a:pPr>
              <a:defRPr sz="1000"/>
            </a:pPr>
            <a:r>
              <a:t>  2. get_plate: 15.0 (×1.0)</a:t>
            </a:r>
          </a:p>
          <a:p>
            <a:pPr>
              <a:defRPr sz="1000"/>
            </a:pPr>
            <a:r>
              <a:t>  3. get_knife: 15.0 (×1.0)</a:t>
            </a:r>
          </a:p>
          <a:p>
            <a:pPr>
              <a:defRPr sz="1000"/>
            </a:pPr>
            <a:r>
              <a:t>  4. arrange_workspace: 15.0 (×1.0)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005840"/>
            <a:ext cx="4114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4472C4"/>
                </a:solidFill>
              </a:defRPr>
            </a:pPr>
            <a:r>
              <a:t>Performance Comparison</a:t>
            </a:r>
          </a:p>
          <a:p>
            <a:pPr>
              <a:defRPr sz="1000" b="1"/>
            </a:pPr>
            <a:r>
              <a:t>Policy          Reward     Fails    Ints    </a:t>
            </a:r>
          </a:p>
          <a:p>
            <a:pPr>
              <a:defRPr sz="1000"/>
            </a:pPr>
            <a:r>
              <a:t>Random          -246.9     4.53     23.00   </a:t>
            </a:r>
          </a:p>
          <a:p>
            <a:pPr>
              <a:defRPr sz="1000"/>
            </a:pPr>
            <a:r>
              <a:t>Proactive       -224.4     1.49     33.31   </a:t>
            </a:r>
          </a:p>
          <a:p>
            <a:pPr>
              <a:defRPr sz="1000"/>
            </a:pPr>
            <a:r>
              <a:t>Reactive        -226.5     1.30     35.27   </a:t>
            </a:r>
          </a:p>
          <a:p>
            <a:pPr>
              <a:defRPr sz="1000" b="1">
                <a:solidFill>
                  <a:srgbClr val="008000"/>
                </a:solidFill>
              </a:defRPr>
            </a:pPr>
            <a:r>
              <a:t>RL_PPO          -171.3     5.48     0.00   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3383280"/>
            <a:ext cx="4114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4472C4"/>
                </a:solidFill>
              </a:defRPr>
            </a:pPr>
            <a:r>
              <a:t>RL Performance</a:t>
            </a:r>
          </a:p>
          <a:p>
            <a:pPr>
              <a:defRPr sz="1100"/>
            </a:pPr>
            <a:r>
              <a:t>• Improvement over Best Baseline: +23.66%</a:t>
            </a:r>
          </a:p>
          <a:p>
            <a:pPr>
              <a:defRPr sz="1100"/>
            </a:pPr>
            <a:r>
              <a:t>• Best Baseline: Proactive</a:t>
            </a:r>
          </a:p>
          <a:p>
            <a:pPr>
              <a:defRPr sz="1100">
                <a:solidFill>
                  <a:srgbClr val="008000"/>
                </a:solidFill>
              </a:defRPr>
            </a:pPr>
            <a:r>
              <a:t>• Status: ✓ Success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4572000"/>
            <a:ext cx="4114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4472C4"/>
                </a:solidFill>
              </a:defRPr>
            </a:pPr>
            <a:r>
              <a:t>Intervention Patterns</a:t>
            </a:r>
          </a:p>
          <a:p>
            <a:pPr>
              <a:defRPr sz="1100"/>
            </a:pPr>
            <a:r>
              <a:t>• Mean Interruptions: 0.00</a:t>
            </a:r>
          </a:p>
          <a:p>
            <a:pPr>
              <a:defRPr sz="1100"/>
            </a:pPr>
            <a:r>
              <a:t>• Intervention Rate: 0.0% of steps</a:t>
            </a:r>
          </a:p>
          <a:p>
            <a:pPr>
              <a:defRPr sz="1100"/>
            </a:pPr>
            <a:r>
              <a:t>• Mean Failures: 5.48</a:t>
            </a:r>
          </a:p>
          <a:p>
            <a:pPr>
              <a:defRPr sz="1100"/>
            </a:pPr>
            <a:r>
              <a:t>• Strategy: Strategic Silence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4472C4"/>
                </a:solidFill>
              </a:defRPr>
            </a:pPr>
            <a:r>
              <a:t>Cooking - Very High Stakes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4114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4472C4"/>
                </a:solidFill>
              </a:defRPr>
            </a:pPr>
            <a:r>
              <a:t>Task Overview</a:t>
            </a:r>
          </a:p>
          <a:p>
            <a:pPr>
              <a:defRPr sz="1100"/>
            </a:pPr>
            <a:r>
              <a:t>• Domain: Cooking</a:t>
            </a:r>
          </a:p>
          <a:p>
            <a:pPr>
              <a:defRPr sz="1100"/>
            </a:pPr>
            <a:r>
              <a:t>• Steps: 14</a:t>
            </a:r>
          </a:p>
          <a:p>
            <a:pPr>
              <a:defRPr sz="1100"/>
            </a:pPr>
            <a:r>
              <a:t>• Base Failure Cost: 20.0</a:t>
            </a:r>
          </a:p>
          <a:p>
            <a:pPr>
              <a:defRPr sz="1100"/>
            </a:pPr>
            <a:r>
              <a:t>• Interruption Cost: 5.0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9456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4472C4"/>
                </a:solidFill>
              </a:defRPr>
            </a:pPr>
            <a:r>
              <a:t>Cost Regime</a:t>
            </a:r>
          </a:p>
          <a:p>
            <a:pPr>
              <a:defRPr sz="1100"/>
            </a:pPr>
            <a:r>
              <a:t>• Interruption Cost: 2.0</a:t>
            </a:r>
          </a:p>
          <a:p>
            <a:pPr>
              <a:defRPr sz="1100"/>
            </a:pPr>
            <a:r>
              <a:t>• Failure Cost: 30.0</a:t>
            </a:r>
          </a:p>
          <a:p>
            <a:pPr>
              <a:defRPr sz="1100"/>
            </a:pPr>
            <a:r>
              <a:t>• Ratio: 15.0 (Surgery/Critical - failures extremely costly)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108960"/>
            <a:ext cx="4114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4472C4"/>
                </a:solidFill>
              </a:defRPr>
            </a:pPr>
            <a:r>
              <a:t>Step-by-Step Failure Costs</a:t>
            </a:r>
          </a:p>
          <a:p>
            <a:pPr>
              <a:defRPr sz="1100" b="1"/>
            </a:pPr>
            <a:r>
              <a:t>Critical Steps (Top 8):</a:t>
            </a:r>
          </a:p>
          <a:p>
            <a:pPr>
              <a:defRPr sz="1000">
                <a:solidFill>
                  <a:srgbClr val="C00000"/>
                </a:solidFill>
              </a:defRPr>
            </a:pPr>
            <a:r>
              <a:t>  10. cook_thoroughly: 40.0 (×2.0)</a:t>
            </a:r>
          </a:p>
          <a:p>
            <a:pPr>
              <a:defRPr sz="1000">
                <a:solidFill>
                  <a:srgbClr val="FF8C00"/>
                </a:solidFill>
              </a:defRPr>
            </a:pPr>
            <a:r>
              <a:t>  7. saute_ingredients: 36.0 (×1.8)</a:t>
            </a:r>
          </a:p>
          <a:p>
            <a:pPr>
              <a:defRPr sz="1000">
                <a:solidFill>
                  <a:srgbClr val="FF8C00"/>
                </a:solidFill>
              </a:defRPr>
            </a:pPr>
            <a:r>
              <a:t>  12. turn_off_stove: 32.0 (×1.6)</a:t>
            </a:r>
          </a:p>
          <a:p>
            <a:pPr>
              <a:defRPr sz="1000">
                <a:solidFill>
                  <a:srgbClr val="FF8C00"/>
                </a:solidFill>
              </a:defRPr>
            </a:pPr>
            <a:r>
              <a:t>  4. preheat_pan: 30.0 (×1.5)</a:t>
            </a:r>
          </a:p>
          <a:p>
            <a:pPr>
              <a:defRPr sz="1000">
                <a:solidFill>
                  <a:srgbClr val="FF8C00"/>
                </a:solidFill>
              </a:defRPr>
            </a:pPr>
            <a:r>
              <a:t>  9. add_remaining: 30.0 (×1.5)</a:t>
            </a:r>
          </a:p>
          <a:p>
            <a:pPr>
              <a:defRPr sz="1000"/>
            </a:pPr>
            <a:r>
              <a:t>  6. add_first_ingredients: 28.0 (×1.4)</a:t>
            </a:r>
          </a:p>
          <a:p>
            <a:pPr>
              <a:defRPr sz="1000"/>
            </a:pPr>
            <a:r>
              <a:t>  5. add_oil: 26.0 (×1.3)</a:t>
            </a:r>
          </a:p>
          <a:p>
            <a:pPr>
              <a:defRPr sz="1000"/>
            </a:pPr>
            <a:r>
              <a:t>  13. plate_food: 26.0 (×1.3)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005840"/>
            <a:ext cx="4114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4472C4"/>
                </a:solidFill>
              </a:defRPr>
            </a:pPr>
            <a:r>
              <a:t>Performance Comparison</a:t>
            </a:r>
          </a:p>
          <a:p>
            <a:pPr>
              <a:defRPr sz="1000" b="1"/>
            </a:pPr>
            <a:r>
              <a:t>Policy          Reward     Fails    Ints    </a:t>
            </a:r>
          </a:p>
          <a:p>
            <a:pPr>
              <a:defRPr sz="1000"/>
            </a:pPr>
            <a:r>
              <a:t>Random          -465.0     6.90     37.54   </a:t>
            </a:r>
          </a:p>
          <a:p>
            <a:pPr>
              <a:defRPr sz="1000"/>
            </a:pPr>
            <a:r>
              <a:t>Proactive       -376.4     1.95     52.90   </a:t>
            </a:r>
          </a:p>
          <a:p>
            <a:pPr>
              <a:defRPr sz="1000"/>
            </a:pPr>
            <a:r>
              <a:t>Reactive        -402.2     1.88     58.85   </a:t>
            </a:r>
          </a:p>
          <a:p>
            <a:pPr>
              <a:defRPr sz="1000" b="1">
                <a:solidFill>
                  <a:srgbClr val="008000"/>
                </a:solidFill>
              </a:defRPr>
            </a:pPr>
            <a:r>
              <a:t>RL_PPO          -355.6     8.58     0.00   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3383280"/>
            <a:ext cx="4114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4472C4"/>
                </a:solidFill>
              </a:defRPr>
            </a:pPr>
            <a:r>
              <a:t>RL Performance</a:t>
            </a:r>
          </a:p>
          <a:p>
            <a:pPr>
              <a:defRPr sz="1100"/>
            </a:pPr>
            <a:r>
              <a:t>• Improvement over Best Baseline: +5.52%</a:t>
            </a:r>
          </a:p>
          <a:p>
            <a:pPr>
              <a:defRPr sz="1100"/>
            </a:pPr>
            <a:r>
              <a:t>• Best Baseline: Proactive</a:t>
            </a:r>
          </a:p>
          <a:p>
            <a:pPr>
              <a:defRPr sz="1100">
                <a:solidFill>
                  <a:srgbClr val="008000"/>
                </a:solidFill>
              </a:defRPr>
            </a:pPr>
            <a:r>
              <a:t>• Status: ✓ Success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4572000"/>
            <a:ext cx="4114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4472C4"/>
                </a:solidFill>
              </a:defRPr>
            </a:pPr>
            <a:r>
              <a:t>Intervention Patterns</a:t>
            </a:r>
          </a:p>
          <a:p>
            <a:pPr>
              <a:defRPr sz="1100"/>
            </a:pPr>
            <a:r>
              <a:t>• Mean Interruptions: 0.00</a:t>
            </a:r>
          </a:p>
          <a:p>
            <a:pPr>
              <a:defRPr sz="1100"/>
            </a:pPr>
            <a:r>
              <a:t>• Intervention Rate: 0.0% of steps</a:t>
            </a:r>
          </a:p>
          <a:p>
            <a:pPr>
              <a:defRPr sz="1100"/>
            </a:pPr>
            <a:r>
              <a:t>• Mean Failures: 8.58</a:t>
            </a:r>
          </a:p>
          <a:p>
            <a:pPr>
              <a:defRPr sz="1100"/>
            </a:pPr>
            <a:r>
              <a:t>• Strategy: Strategic Silence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4472C4"/>
                </a:solidFill>
              </a:defRPr>
            </a:pPr>
            <a:r>
              <a:t>Make Stencil - Very High Stakes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4114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4472C4"/>
                </a:solidFill>
              </a:defRPr>
            </a:pPr>
            <a:r>
              <a:t>Task Overview</a:t>
            </a:r>
          </a:p>
          <a:p>
            <a:pPr>
              <a:defRPr sz="1100"/>
            </a:pPr>
            <a:r>
              <a:t>• Domain: Crafting</a:t>
            </a:r>
          </a:p>
          <a:p>
            <a:pPr>
              <a:defRPr sz="1100"/>
            </a:pPr>
            <a:r>
              <a:t>• Steps: 17</a:t>
            </a:r>
          </a:p>
          <a:p>
            <a:pPr>
              <a:defRPr sz="1100"/>
            </a:pPr>
            <a:r>
              <a:t>• Base Failure Cost: 30.0</a:t>
            </a:r>
          </a:p>
          <a:p>
            <a:pPr>
              <a:defRPr sz="1100"/>
            </a:pPr>
            <a:r>
              <a:t>• Interruption Cost: 5.0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9456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4472C4"/>
                </a:solidFill>
              </a:defRPr>
            </a:pPr>
            <a:r>
              <a:t>Cost Regime</a:t>
            </a:r>
          </a:p>
          <a:p>
            <a:pPr>
              <a:defRPr sz="1100"/>
            </a:pPr>
            <a:r>
              <a:t>• Interruption Cost: 2.0</a:t>
            </a:r>
          </a:p>
          <a:p>
            <a:pPr>
              <a:defRPr sz="1100"/>
            </a:pPr>
            <a:r>
              <a:t>• Failure Cost: 30.0</a:t>
            </a:r>
          </a:p>
          <a:p>
            <a:pPr>
              <a:defRPr sz="1100"/>
            </a:pPr>
            <a:r>
              <a:t>• Ratio: 15.0 (Surgery/Critical - failures extremely costly)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108960"/>
            <a:ext cx="4114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4472C4"/>
                </a:solidFill>
              </a:defRPr>
            </a:pPr>
            <a:r>
              <a:t>Step-by-Step Failure Costs</a:t>
            </a:r>
          </a:p>
          <a:p>
            <a:pPr>
              <a:defRPr sz="1100" b="1"/>
            </a:pPr>
            <a:r>
              <a:t>Critical Steps (Top 8):</a:t>
            </a:r>
          </a:p>
          <a:p>
            <a:pPr>
              <a:defRPr sz="1000">
                <a:solidFill>
                  <a:srgbClr val="C00000"/>
                </a:solidFill>
              </a:defRPr>
            </a:pPr>
            <a:r>
              <a:t>  3. check_exhaust: 75.0 (×2.5)</a:t>
            </a:r>
          </a:p>
          <a:p>
            <a:pPr>
              <a:defRPr sz="1000">
                <a:solidFill>
                  <a:srgbClr val="C00000"/>
                </a:solidFill>
              </a:defRPr>
            </a:pPr>
            <a:r>
              <a:t>  10. monitor_cutting: 66.0 (×2.2)</a:t>
            </a:r>
          </a:p>
          <a:p>
            <a:pPr>
              <a:defRPr sz="1000">
                <a:solidFill>
                  <a:srgbClr val="C00000"/>
                </a:solidFill>
              </a:defRPr>
            </a:pPr>
            <a:r>
              <a:t>  9. start_cutting: 60.0 (×2.0)</a:t>
            </a:r>
          </a:p>
          <a:p>
            <a:pPr>
              <a:defRPr sz="1000">
                <a:solidFill>
                  <a:srgbClr val="FF8C00"/>
                </a:solidFill>
              </a:defRPr>
            </a:pPr>
            <a:r>
              <a:t>  6. focus_laser: 54.0 (×1.8)</a:t>
            </a:r>
          </a:p>
          <a:p>
            <a:pPr>
              <a:defRPr sz="1000">
                <a:solidFill>
                  <a:srgbClr val="FF8C00"/>
                </a:solidFill>
              </a:defRPr>
            </a:pPr>
            <a:r>
              <a:t>  7. set_parameters: 48.0 (×1.6)</a:t>
            </a:r>
          </a:p>
          <a:p>
            <a:pPr>
              <a:defRPr sz="1000">
                <a:solidFill>
                  <a:srgbClr val="FF8C00"/>
                </a:solidFill>
              </a:defRPr>
            </a:pPr>
            <a:r>
              <a:t>  16. apply_paint: 45.0 (×1.5)</a:t>
            </a:r>
          </a:p>
          <a:p>
            <a:pPr>
              <a:defRPr sz="1000"/>
            </a:pPr>
            <a:r>
              <a:t>  5. load_material: 42.0 (×1.4)</a:t>
            </a:r>
          </a:p>
          <a:p>
            <a:pPr>
              <a:defRPr sz="1000"/>
            </a:pPr>
            <a:r>
              <a:t>  15. secure_stencil: 42.0 (×1.4)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005840"/>
            <a:ext cx="4114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4472C4"/>
                </a:solidFill>
              </a:defRPr>
            </a:pPr>
            <a:r>
              <a:t>Performance Comparison</a:t>
            </a:r>
          </a:p>
          <a:p>
            <a:pPr>
              <a:defRPr sz="1000" b="1"/>
            </a:pPr>
            <a:r>
              <a:t>Policy          Reward     Fails    Ints    </a:t>
            </a:r>
          </a:p>
          <a:p>
            <a:pPr>
              <a:defRPr sz="1000"/>
            </a:pPr>
            <a:r>
              <a:t>Random          -736.5     9.06     45.25   </a:t>
            </a:r>
          </a:p>
          <a:p>
            <a:pPr>
              <a:defRPr sz="1000"/>
            </a:pPr>
            <a:r>
              <a:t>Proactive       -535.7     2.47     68.00   </a:t>
            </a:r>
          </a:p>
          <a:p>
            <a:pPr>
              <a:defRPr sz="1000"/>
            </a:pPr>
            <a:r>
              <a:t>Reactive        -528.6     2.34     70.25   </a:t>
            </a:r>
          </a:p>
          <a:p>
            <a:pPr>
              <a:defRPr sz="1000" b="1">
                <a:solidFill>
                  <a:srgbClr val="C00000"/>
                </a:solidFill>
              </a:defRPr>
            </a:pPr>
            <a:r>
              <a:t>RL_PPO          -648.4     10.37    8.46   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3383280"/>
            <a:ext cx="4114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4472C4"/>
                </a:solidFill>
              </a:defRPr>
            </a:pPr>
            <a:r>
              <a:t>RL Performance</a:t>
            </a:r>
          </a:p>
          <a:p>
            <a:pPr>
              <a:defRPr sz="1100"/>
            </a:pPr>
            <a:r>
              <a:t>• Improvement over Best Baseline: -22.65%</a:t>
            </a:r>
          </a:p>
          <a:p>
            <a:pPr>
              <a:defRPr sz="1100"/>
            </a:pPr>
            <a:r>
              <a:t>• Best Baseline: Reactive</a:t>
            </a:r>
          </a:p>
          <a:p>
            <a:pPr>
              <a:defRPr sz="1100">
                <a:solidFill>
                  <a:srgbClr val="C00000"/>
                </a:solidFill>
              </a:defRPr>
            </a:pPr>
            <a:r>
              <a:t>• Status: ✗ Failed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4572000"/>
            <a:ext cx="4114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4472C4"/>
                </a:solidFill>
              </a:defRPr>
            </a:pPr>
            <a:r>
              <a:t>Intervention Patterns</a:t>
            </a:r>
          </a:p>
          <a:p>
            <a:pPr>
              <a:defRPr sz="1100"/>
            </a:pPr>
            <a:r>
              <a:t>• Mean Interruptions: 8.46</a:t>
            </a:r>
          </a:p>
          <a:p>
            <a:pPr>
              <a:defRPr sz="1100"/>
            </a:pPr>
            <a:r>
              <a:t>• Intervention Rate: 49.8% of steps</a:t>
            </a:r>
          </a:p>
          <a:p>
            <a:pPr>
              <a:defRPr sz="1100"/>
            </a:pPr>
            <a:r>
              <a:t>• Mean Failures: 10.37</a:t>
            </a:r>
          </a:p>
          <a:p>
            <a:pPr>
              <a:defRPr sz="1100"/>
            </a:pPr>
            <a:r>
              <a:t>• Strategy: Proactive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4472C4"/>
                </a:solidFill>
              </a:defRPr>
            </a:pPr>
            <a:r>
              <a:t>Latte Making - Very High Stakes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4114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4472C4"/>
                </a:solidFill>
              </a:defRPr>
            </a:pPr>
            <a:r>
              <a:t>Task Overview</a:t>
            </a:r>
          </a:p>
          <a:p>
            <a:pPr>
              <a:defRPr sz="1100"/>
            </a:pPr>
            <a:r>
              <a:t>• Domain: Technical</a:t>
            </a:r>
          </a:p>
          <a:p>
            <a:pPr>
              <a:defRPr sz="1100"/>
            </a:pPr>
            <a:r>
              <a:t>• Steps: 20</a:t>
            </a:r>
          </a:p>
          <a:p>
            <a:pPr>
              <a:defRPr sz="1100"/>
            </a:pPr>
            <a:r>
              <a:t>• Base Failure Cost: 25.0</a:t>
            </a:r>
          </a:p>
          <a:p>
            <a:pPr>
              <a:defRPr sz="1100"/>
            </a:pPr>
            <a:r>
              <a:t>• Interruption Cost: 5.0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9456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4472C4"/>
                </a:solidFill>
              </a:defRPr>
            </a:pPr>
            <a:r>
              <a:t>Cost Regime</a:t>
            </a:r>
          </a:p>
          <a:p>
            <a:pPr>
              <a:defRPr sz="1100"/>
            </a:pPr>
            <a:r>
              <a:t>• Interruption Cost: 2.0</a:t>
            </a:r>
          </a:p>
          <a:p>
            <a:pPr>
              <a:defRPr sz="1100"/>
            </a:pPr>
            <a:r>
              <a:t>• Failure Cost: 30.0</a:t>
            </a:r>
          </a:p>
          <a:p>
            <a:pPr>
              <a:defRPr sz="1100"/>
            </a:pPr>
            <a:r>
              <a:t>• Ratio: 15.0 (Surgery/Critical - failures extremely costly)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108960"/>
            <a:ext cx="4114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4472C4"/>
                </a:solidFill>
              </a:defRPr>
            </a:pPr>
            <a:r>
              <a:t>Step-by-Step Failure Costs</a:t>
            </a:r>
          </a:p>
          <a:p>
            <a:pPr>
              <a:defRPr sz="1100" b="1"/>
            </a:pPr>
            <a:r>
              <a:t>Critical Steps (Top 8):</a:t>
            </a:r>
          </a:p>
          <a:p>
            <a:pPr>
              <a:defRPr sz="1000">
                <a:solidFill>
                  <a:srgbClr val="C00000"/>
                </a:solidFill>
              </a:defRPr>
            </a:pPr>
            <a:r>
              <a:t>  6. brew_coffee: 50.0 (×2.0)</a:t>
            </a:r>
          </a:p>
          <a:p>
            <a:pPr>
              <a:defRPr sz="1000">
                <a:solidFill>
                  <a:srgbClr val="C00000"/>
                </a:solidFill>
              </a:defRPr>
            </a:pPr>
            <a:r>
              <a:t>  10. steam_milk: 50.0 (×2.0)</a:t>
            </a:r>
          </a:p>
          <a:p>
            <a:pPr>
              <a:defRPr sz="1000">
                <a:solidFill>
                  <a:srgbClr val="FF8C00"/>
                </a:solidFill>
              </a:defRPr>
            </a:pPr>
            <a:r>
              <a:t>  11. texture_milk: 37.5 (×1.5)</a:t>
            </a:r>
          </a:p>
          <a:p>
            <a:pPr>
              <a:defRPr sz="1000">
                <a:solidFill>
                  <a:srgbClr val="FF8C00"/>
                </a:solidFill>
              </a:defRPr>
            </a:pPr>
            <a:r>
              <a:t>  18. clean_wand: 37.5 (×1.5)</a:t>
            </a:r>
          </a:p>
          <a:p>
            <a:pPr>
              <a:defRPr sz="1000"/>
            </a:pPr>
            <a:r>
              <a:t>  4. attach_portafilter: 35.0 (×1.4)</a:t>
            </a:r>
          </a:p>
          <a:p>
            <a:pPr>
              <a:defRPr sz="1000"/>
            </a:pPr>
            <a:r>
              <a:t>  14. pour_milk_slowly: 35.0 (×1.4)</a:t>
            </a:r>
          </a:p>
          <a:p>
            <a:pPr>
              <a:defRPr sz="1000"/>
            </a:pPr>
            <a:r>
              <a:t>  3. prepare_portafilter: 32.5 (×1.3)</a:t>
            </a:r>
          </a:p>
          <a:p>
            <a:pPr>
              <a:defRPr sz="1000"/>
            </a:pPr>
            <a:r>
              <a:t>  15. create_pattern: 32.5 (×1.3)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005840"/>
            <a:ext cx="4114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4472C4"/>
                </a:solidFill>
              </a:defRPr>
            </a:pPr>
            <a:r>
              <a:t>Performance Comparison</a:t>
            </a:r>
          </a:p>
          <a:p>
            <a:pPr>
              <a:defRPr sz="1000" b="1"/>
            </a:pPr>
            <a:r>
              <a:t>Policy          Reward     Fails    Ints    </a:t>
            </a:r>
          </a:p>
          <a:p>
            <a:pPr>
              <a:defRPr sz="1000"/>
            </a:pPr>
            <a:r>
              <a:t>Random          -731.2     10.50    53.09   </a:t>
            </a:r>
          </a:p>
          <a:p>
            <a:pPr>
              <a:defRPr sz="1000"/>
            </a:pPr>
            <a:r>
              <a:t>Proactive       -576.2     3.02     78.64   </a:t>
            </a:r>
          </a:p>
          <a:p>
            <a:pPr>
              <a:defRPr sz="1000"/>
            </a:pPr>
            <a:r>
              <a:t>Reactive        -582.9     2.70     83.55   </a:t>
            </a:r>
          </a:p>
          <a:p>
            <a:pPr>
              <a:defRPr sz="1000" b="1">
                <a:solidFill>
                  <a:srgbClr val="008000"/>
                </a:solidFill>
              </a:defRPr>
            </a:pPr>
            <a:r>
              <a:t>RL_PPO          -556.4     11.92    0.00   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3383280"/>
            <a:ext cx="4114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4472C4"/>
                </a:solidFill>
              </a:defRPr>
            </a:pPr>
            <a:r>
              <a:t>RL Performance</a:t>
            </a:r>
          </a:p>
          <a:p>
            <a:pPr>
              <a:defRPr sz="1100"/>
            </a:pPr>
            <a:r>
              <a:t>• Improvement over Best Baseline: +3.45%</a:t>
            </a:r>
          </a:p>
          <a:p>
            <a:pPr>
              <a:defRPr sz="1100"/>
            </a:pPr>
            <a:r>
              <a:t>• Best Baseline: Proactive</a:t>
            </a:r>
          </a:p>
          <a:p>
            <a:pPr>
              <a:defRPr sz="1100">
                <a:solidFill>
                  <a:srgbClr val="008000"/>
                </a:solidFill>
              </a:defRPr>
            </a:pPr>
            <a:r>
              <a:t>• Status: ✓ Success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4572000"/>
            <a:ext cx="4114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4472C4"/>
                </a:solidFill>
              </a:defRPr>
            </a:pPr>
            <a:r>
              <a:t>Intervention Patterns</a:t>
            </a:r>
          </a:p>
          <a:p>
            <a:pPr>
              <a:defRPr sz="1100"/>
            </a:pPr>
            <a:r>
              <a:t>• Mean Interruptions: 0.00</a:t>
            </a:r>
          </a:p>
          <a:p>
            <a:pPr>
              <a:defRPr sz="1100"/>
            </a:pPr>
            <a:r>
              <a:t>• Intervention Rate: 0.0% of steps</a:t>
            </a:r>
          </a:p>
          <a:p>
            <a:pPr>
              <a:defRPr sz="1100"/>
            </a:pPr>
            <a:r>
              <a:t>• Mean Failures: 11.92</a:t>
            </a:r>
          </a:p>
          <a:p>
            <a:pPr>
              <a:defRPr sz="1100"/>
            </a:pPr>
            <a:r>
              <a:t>• Strategy: Strategic Silence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4472C4"/>
                </a:solidFill>
              </a:defRPr>
            </a:pPr>
            <a:r>
              <a:t>Regime Summary: Balanced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4472C4"/>
                </a:solidFill>
              </a:defRPr>
            </a:pPr>
            <a:r>
              <a:t>Standard assistance - balanced costs</a:t>
            </a:r>
          </a:p>
          <a:p>
            <a:pPr>
              <a:defRPr sz="1100"/>
            </a:pPr>
            <a:r>
              <a:t>c_int=5.0, c_fail=15.0, ratio=3.0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920240"/>
            <a:ext cx="7680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4472C4"/>
                </a:solidFill>
              </a:defRPr>
            </a:pPr>
            <a:r>
              <a:t>Performance Across All Tasks</a:t>
            </a:r>
          </a:p>
          <a:p>
            <a:pPr>
              <a:defRPr sz="1100" b="1"/>
            </a:pPr>
            <a:r>
              <a:t>Task               Steps   Improvement   Interrupts   Failures  </a:t>
            </a:r>
          </a:p>
          <a:p>
            <a:pPr>
              <a:defRPr sz="1000">
                <a:solidFill>
                  <a:srgbClr val="008000"/>
                </a:solidFill>
              </a:defRPr>
            </a:pPr>
            <a:r>
              <a:t>make cereal        8        +30.88%         0.00        4.76</a:t>
            </a:r>
          </a:p>
          <a:p>
            <a:pPr>
              <a:defRPr sz="1000">
                <a:solidFill>
                  <a:srgbClr val="008000"/>
                </a:solidFill>
              </a:defRPr>
            </a:pPr>
            <a:r>
              <a:t>make coffee        8        +24.68%         0.00        4.76</a:t>
            </a:r>
          </a:p>
          <a:p>
            <a:pPr>
              <a:defRPr sz="1000">
                <a:solidFill>
                  <a:srgbClr val="008000"/>
                </a:solidFill>
              </a:defRPr>
            </a:pPr>
            <a:r>
              <a:t>make tea           9        +28.31%         0.00        5.48</a:t>
            </a:r>
          </a:p>
          <a:p>
            <a:pPr>
              <a:defRPr sz="1000">
                <a:solidFill>
                  <a:srgbClr val="008000"/>
                </a:solidFill>
              </a:defRPr>
            </a:pPr>
            <a:r>
              <a:t>make sandwich      9        +18.92%         0.97        5.50</a:t>
            </a:r>
          </a:p>
          <a:p>
            <a:pPr>
              <a:defRPr sz="1000">
                <a:solidFill>
                  <a:srgbClr val="008000"/>
                </a:solidFill>
              </a:defRPr>
            </a:pPr>
            <a:r>
              <a:t>cooking            14        +5.52%         0.00        8.58</a:t>
            </a:r>
          </a:p>
          <a:p>
            <a:pPr>
              <a:defRPr sz="1000">
                <a:solidFill>
                  <a:srgbClr val="C00000"/>
                </a:solidFill>
              </a:defRPr>
            </a:pPr>
            <a:r>
              <a:t>make stencil       17       -14.53%         0.00       10.05</a:t>
            </a:r>
          </a:p>
          <a:p>
            <a:pPr>
              <a:defRPr sz="1000">
                <a:solidFill>
                  <a:srgbClr val="008000"/>
                </a:solidFill>
              </a:defRPr>
            </a:pPr>
            <a:r>
              <a:t>latte making       20        +3.45%         0.00       11.92</a:t>
            </a:r>
          </a:p>
          <a:p/>
          <a:p>
            <a:pPr>
              <a:defRPr sz="1100" b="1">
                <a:solidFill>
                  <a:srgbClr val="008000"/>
                </a:solidFill>
              </a:defRPr>
            </a:pPr>
            <a:r>
              <a:t>Mean Improvement: +13.89%  |  Success Rate: 85.7% (6/7 tasks)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4472C4"/>
                </a:solidFill>
              </a:defRPr>
            </a:pPr>
            <a:r>
              <a:t>Make Cereal - Balanced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4114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4472C4"/>
                </a:solidFill>
              </a:defRPr>
            </a:pPr>
            <a:r>
              <a:t>Task Overview</a:t>
            </a:r>
          </a:p>
          <a:p>
            <a:pPr>
              <a:defRPr sz="1100"/>
            </a:pPr>
            <a:r>
              <a:t>• Domain: Cooking</a:t>
            </a:r>
          </a:p>
          <a:p>
            <a:pPr>
              <a:defRPr sz="1100"/>
            </a:pPr>
            <a:r>
              <a:t>• Steps: 8</a:t>
            </a:r>
          </a:p>
          <a:p>
            <a:pPr>
              <a:defRPr sz="1100"/>
            </a:pPr>
            <a:r>
              <a:t>• Base Failure Cost: 10.0</a:t>
            </a:r>
          </a:p>
          <a:p>
            <a:pPr>
              <a:defRPr sz="1100"/>
            </a:pPr>
            <a:r>
              <a:t>• Interruption Cost: 5.0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9456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4472C4"/>
                </a:solidFill>
              </a:defRPr>
            </a:pPr>
            <a:r>
              <a:t>Cost Regime</a:t>
            </a:r>
          </a:p>
          <a:p>
            <a:pPr>
              <a:defRPr sz="1100"/>
            </a:pPr>
            <a:r>
              <a:t>• Interruption Cost: 5.0</a:t>
            </a:r>
          </a:p>
          <a:p>
            <a:pPr>
              <a:defRPr sz="1100"/>
            </a:pPr>
            <a:r>
              <a:t>• Failure Cost: 15.0</a:t>
            </a:r>
          </a:p>
          <a:p>
            <a:pPr>
              <a:defRPr sz="1100"/>
            </a:pPr>
            <a:r>
              <a:t>• Ratio: 3.0 (Standard assistance - balanced costs)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108960"/>
            <a:ext cx="4114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4472C4"/>
                </a:solidFill>
              </a:defRPr>
            </a:pPr>
            <a:r>
              <a:t>Step-by-Step Failure Costs</a:t>
            </a:r>
          </a:p>
          <a:p>
            <a:pPr>
              <a:defRPr sz="1100" b="1"/>
            </a:pPr>
            <a:r>
              <a:t>Critical Steps (Top 8):</a:t>
            </a:r>
          </a:p>
          <a:p>
            <a:pPr>
              <a:defRPr sz="1000"/>
            </a:pPr>
            <a:r>
              <a:t>  5. pour_milk: 13.0 (×1.3)</a:t>
            </a:r>
          </a:p>
          <a:p>
            <a:pPr>
              <a:defRPr sz="1000"/>
            </a:pPr>
            <a:r>
              <a:t>  4. pour_cereal: 12.0 (×1.2)</a:t>
            </a:r>
          </a:p>
          <a:p>
            <a:pPr>
              <a:defRPr sz="1000"/>
            </a:pPr>
            <a:r>
              <a:t>  1. get_bowl: 10.0 (×1.0)</a:t>
            </a:r>
          </a:p>
          <a:p>
            <a:pPr>
              <a:defRPr sz="1000"/>
            </a:pPr>
            <a:r>
              <a:t>  2. get_cereal: 10.0 (×1.0)</a:t>
            </a:r>
          </a:p>
          <a:p>
            <a:pPr>
              <a:defRPr sz="1000"/>
            </a:pPr>
            <a:r>
              <a:t>  3. get_milk: 10.0 (×1.0)</a:t>
            </a:r>
          </a:p>
          <a:p>
            <a:pPr>
              <a:defRPr sz="1000"/>
            </a:pPr>
            <a:r>
              <a:t>  6. get_spoon: 10.0 (×1.0)</a:t>
            </a:r>
          </a:p>
          <a:p>
            <a:pPr>
              <a:defRPr sz="1000"/>
            </a:pPr>
            <a:r>
              <a:t>  7. return_items: 10.0 (×1.0)</a:t>
            </a:r>
          </a:p>
          <a:p>
            <a:pPr>
              <a:defRPr sz="1000"/>
            </a:pPr>
            <a:r>
              <a:t>  8. serve_cereal: 10.0 (×1.0)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005840"/>
            <a:ext cx="4114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4472C4"/>
                </a:solidFill>
              </a:defRPr>
            </a:pPr>
            <a:r>
              <a:t>Performance Comparison</a:t>
            </a:r>
          </a:p>
          <a:p>
            <a:pPr>
              <a:defRPr sz="1000" b="1"/>
            </a:pPr>
            <a:r>
              <a:t>Policy          Reward     Fails    Ints    </a:t>
            </a:r>
          </a:p>
          <a:p>
            <a:pPr>
              <a:defRPr sz="1000"/>
            </a:pPr>
            <a:r>
              <a:t>Random          -189.5     3.56     21.09   </a:t>
            </a:r>
          </a:p>
          <a:p>
            <a:pPr>
              <a:defRPr sz="1000"/>
            </a:pPr>
            <a:r>
              <a:t>Proactive       -181.9     1.42     28.59   </a:t>
            </a:r>
          </a:p>
          <a:p>
            <a:pPr>
              <a:defRPr sz="1000"/>
            </a:pPr>
            <a:r>
              <a:t>Reactive        -183.9     1.11     30.34   </a:t>
            </a:r>
          </a:p>
          <a:p>
            <a:pPr>
              <a:defRPr sz="1000" b="1">
                <a:solidFill>
                  <a:srgbClr val="008000"/>
                </a:solidFill>
              </a:defRPr>
            </a:pPr>
            <a:r>
              <a:t>RL_PPO          -125.8     4.76     0.00   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3383280"/>
            <a:ext cx="4114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4472C4"/>
                </a:solidFill>
              </a:defRPr>
            </a:pPr>
            <a:r>
              <a:t>RL Performance</a:t>
            </a:r>
          </a:p>
          <a:p>
            <a:pPr>
              <a:defRPr sz="1100"/>
            </a:pPr>
            <a:r>
              <a:t>• Improvement over Best Baseline: +30.88%</a:t>
            </a:r>
          </a:p>
          <a:p>
            <a:pPr>
              <a:defRPr sz="1100"/>
            </a:pPr>
            <a:r>
              <a:t>• Best Baseline: Proactive</a:t>
            </a:r>
          </a:p>
          <a:p>
            <a:pPr>
              <a:defRPr sz="1100">
                <a:solidFill>
                  <a:srgbClr val="008000"/>
                </a:solidFill>
              </a:defRPr>
            </a:pPr>
            <a:r>
              <a:t>• Status: ✓ Success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4572000"/>
            <a:ext cx="4114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4472C4"/>
                </a:solidFill>
              </a:defRPr>
            </a:pPr>
            <a:r>
              <a:t>Intervention Patterns</a:t>
            </a:r>
          </a:p>
          <a:p>
            <a:pPr>
              <a:defRPr sz="1100"/>
            </a:pPr>
            <a:r>
              <a:t>• Mean Interruptions: 0.00</a:t>
            </a:r>
          </a:p>
          <a:p>
            <a:pPr>
              <a:defRPr sz="1100"/>
            </a:pPr>
            <a:r>
              <a:t>• Intervention Rate: 0.0% of steps</a:t>
            </a:r>
          </a:p>
          <a:p>
            <a:pPr>
              <a:defRPr sz="1100"/>
            </a:pPr>
            <a:r>
              <a:t>• Mean Failures: 4.76</a:t>
            </a:r>
          </a:p>
          <a:p>
            <a:pPr>
              <a:defRPr sz="1100"/>
            </a:pPr>
            <a:r>
              <a:t>• Strategy: Strategic Silence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4472C4"/>
                </a:solidFill>
              </a:defRPr>
            </a:pPr>
            <a:r>
              <a:t>Make Coffee - Balanced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4114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4472C4"/>
                </a:solidFill>
              </a:defRPr>
            </a:pPr>
            <a:r>
              <a:t>Task Overview</a:t>
            </a:r>
          </a:p>
          <a:p>
            <a:pPr>
              <a:defRPr sz="1100"/>
            </a:pPr>
            <a:r>
              <a:t>• Domain: Cooking</a:t>
            </a:r>
          </a:p>
          <a:p>
            <a:pPr>
              <a:defRPr sz="1100"/>
            </a:pPr>
            <a:r>
              <a:t>• Steps: 8</a:t>
            </a:r>
          </a:p>
          <a:p>
            <a:pPr>
              <a:defRPr sz="1100"/>
            </a:pPr>
            <a:r>
              <a:t>• Base Failure Cost: 12.0</a:t>
            </a:r>
          </a:p>
          <a:p>
            <a:pPr>
              <a:defRPr sz="1100"/>
            </a:pPr>
            <a:r>
              <a:t>• Interruption Cost: 5.0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9456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4472C4"/>
                </a:solidFill>
              </a:defRPr>
            </a:pPr>
            <a:r>
              <a:t>Cost Regime</a:t>
            </a:r>
          </a:p>
          <a:p>
            <a:pPr>
              <a:defRPr sz="1100"/>
            </a:pPr>
            <a:r>
              <a:t>• Interruption Cost: 5.0</a:t>
            </a:r>
          </a:p>
          <a:p>
            <a:pPr>
              <a:defRPr sz="1100"/>
            </a:pPr>
            <a:r>
              <a:t>• Failure Cost: 15.0</a:t>
            </a:r>
          </a:p>
          <a:p>
            <a:pPr>
              <a:defRPr sz="1100"/>
            </a:pPr>
            <a:r>
              <a:t>• Ratio: 3.0 (Standard assistance - balanced costs)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108960"/>
            <a:ext cx="4114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4472C4"/>
                </a:solidFill>
              </a:defRPr>
            </a:pPr>
            <a:r>
              <a:t>Step-by-Step Failure Costs</a:t>
            </a:r>
          </a:p>
          <a:p>
            <a:pPr>
              <a:defRPr sz="1100" b="1"/>
            </a:pPr>
            <a:r>
              <a:t>Critical Steps (Top 8):</a:t>
            </a:r>
          </a:p>
          <a:p>
            <a:pPr>
              <a:defRPr sz="1000">
                <a:solidFill>
                  <a:srgbClr val="FF8C00"/>
                </a:solidFill>
              </a:defRPr>
            </a:pPr>
            <a:r>
              <a:t>  6. brew_coffee: 21.6 (×1.8)</a:t>
            </a:r>
          </a:p>
          <a:p>
            <a:pPr>
              <a:defRPr sz="1000"/>
            </a:pPr>
            <a:r>
              <a:t>  4. insert_pod: 15.6 (×1.3)</a:t>
            </a:r>
          </a:p>
          <a:p>
            <a:pPr>
              <a:defRPr sz="1000"/>
            </a:pPr>
            <a:r>
              <a:t>  3. add_water: 14.4 (×1.2)</a:t>
            </a:r>
          </a:p>
          <a:p>
            <a:pPr>
              <a:defRPr sz="1000"/>
            </a:pPr>
            <a:r>
              <a:t>  5. place_mug: 14.4 (×1.2)</a:t>
            </a:r>
          </a:p>
          <a:p>
            <a:pPr>
              <a:defRPr sz="1000"/>
            </a:pPr>
            <a:r>
              <a:t>  7. remove_pod: 13.2 (×1.1)</a:t>
            </a:r>
          </a:p>
          <a:p>
            <a:pPr>
              <a:defRPr sz="1000"/>
            </a:pPr>
            <a:r>
              <a:t>  1. get_mug: 12.0 (×1.0)</a:t>
            </a:r>
          </a:p>
          <a:p>
            <a:pPr>
              <a:defRPr sz="1000"/>
            </a:pPr>
            <a:r>
              <a:t>  2. get_coffee_pod: 12.0 (×1.0)</a:t>
            </a:r>
          </a:p>
          <a:p>
            <a:pPr>
              <a:defRPr sz="1000"/>
            </a:pPr>
            <a:r>
              <a:t>  8. serve_coffee: 12.0 (×1.0)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005840"/>
            <a:ext cx="4114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4472C4"/>
                </a:solidFill>
              </a:defRPr>
            </a:pPr>
            <a:r>
              <a:t>Performance Comparison</a:t>
            </a:r>
          </a:p>
          <a:p>
            <a:pPr>
              <a:defRPr sz="1000" b="1"/>
            </a:pPr>
            <a:r>
              <a:t>Policy          Reward     Fails    Ints    </a:t>
            </a:r>
          </a:p>
          <a:p>
            <a:pPr>
              <a:defRPr sz="1000"/>
            </a:pPr>
            <a:r>
              <a:t>Random          -206.0     3.56     21.09   </a:t>
            </a:r>
          </a:p>
          <a:p>
            <a:pPr>
              <a:defRPr sz="1000"/>
            </a:pPr>
            <a:r>
              <a:t>Proactive       -190.9     1.42     28.59   </a:t>
            </a:r>
          </a:p>
          <a:p>
            <a:pPr>
              <a:defRPr sz="1000"/>
            </a:pPr>
            <a:r>
              <a:t>Reactive        -190.8     1.11     30.34   </a:t>
            </a:r>
          </a:p>
          <a:p>
            <a:pPr>
              <a:defRPr sz="1000" b="1">
                <a:solidFill>
                  <a:srgbClr val="008000"/>
                </a:solidFill>
              </a:defRPr>
            </a:pPr>
            <a:r>
              <a:t>RL_PPO          -143.7     4.76     0.00   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3383280"/>
            <a:ext cx="4114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4472C4"/>
                </a:solidFill>
              </a:defRPr>
            </a:pPr>
            <a:r>
              <a:t>RL Performance</a:t>
            </a:r>
          </a:p>
          <a:p>
            <a:pPr>
              <a:defRPr sz="1100"/>
            </a:pPr>
            <a:r>
              <a:t>• Improvement over Best Baseline: +24.68%</a:t>
            </a:r>
          </a:p>
          <a:p>
            <a:pPr>
              <a:defRPr sz="1100"/>
            </a:pPr>
            <a:r>
              <a:t>• Best Baseline: Reactive</a:t>
            </a:r>
          </a:p>
          <a:p>
            <a:pPr>
              <a:defRPr sz="1100">
                <a:solidFill>
                  <a:srgbClr val="008000"/>
                </a:solidFill>
              </a:defRPr>
            </a:pPr>
            <a:r>
              <a:t>• Status: ✓ Success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4572000"/>
            <a:ext cx="4114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4472C4"/>
                </a:solidFill>
              </a:defRPr>
            </a:pPr>
            <a:r>
              <a:t>Intervention Patterns</a:t>
            </a:r>
          </a:p>
          <a:p>
            <a:pPr>
              <a:defRPr sz="1100"/>
            </a:pPr>
            <a:r>
              <a:t>• Mean Interruptions: 0.00</a:t>
            </a:r>
          </a:p>
          <a:p>
            <a:pPr>
              <a:defRPr sz="1100"/>
            </a:pPr>
            <a:r>
              <a:t>• Intervention Rate: 0.0% of steps</a:t>
            </a:r>
          </a:p>
          <a:p>
            <a:pPr>
              <a:defRPr sz="1100"/>
            </a:pPr>
            <a:r>
              <a:t>• Mean Failures: 4.76</a:t>
            </a:r>
          </a:p>
          <a:p>
            <a:pPr>
              <a:defRPr sz="1100"/>
            </a:pPr>
            <a:r>
              <a:t>• Strategy: Strategic Silence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4472C4"/>
                </a:solidFill>
              </a:defRPr>
            </a:pPr>
            <a:r>
              <a:t>Make Tea - Balanced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4114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4472C4"/>
                </a:solidFill>
              </a:defRPr>
            </a:pPr>
            <a:r>
              <a:t>Task Overview</a:t>
            </a:r>
          </a:p>
          <a:p>
            <a:pPr>
              <a:defRPr sz="1100"/>
            </a:pPr>
            <a:r>
              <a:t>• Domain: Cooking</a:t>
            </a:r>
          </a:p>
          <a:p>
            <a:pPr>
              <a:defRPr sz="1100"/>
            </a:pPr>
            <a:r>
              <a:t>• Steps: 9</a:t>
            </a:r>
          </a:p>
          <a:p>
            <a:pPr>
              <a:defRPr sz="1100"/>
            </a:pPr>
            <a:r>
              <a:t>• Base Failure Cost: 12.0</a:t>
            </a:r>
          </a:p>
          <a:p>
            <a:pPr>
              <a:defRPr sz="1100"/>
            </a:pPr>
            <a:r>
              <a:t>• Interruption Cost: 5.0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9456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4472C4"/>
                </a:solidFill>
              </a:defRPr>
            </a:pPr>
            <a:r>
              <a:t>Cost Regime</a:t>
            </a:r>
          </a:p>
          <a:p>
            <a:pPr>
              <a:defRPr sz="1100"/>
            </a:pPr>
            <a:r>
              <a:t>• Interruption Cost: 5.0</a:t>
            </a:r>
          </a:p>
          <a:p>
            <a:pPr>
              <a:defRPr sz="1100"/>
            </a:pPr>
            <a:r>
              <a:t>• Failure Cost: 15.0</a:t>
            </a:r>
          </a:p>
          <a:p>
            <a:pPr>
              <a:defRPr sz="1100"/>
            </a:pPr>
            <a:r>
              <a:t>• Ratio: 3.0 (Standard assistance - balanced costs)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108960"/>
            <a:ext cx="4114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4472C4"/>
                </a:solidFill>
              </a:defRPr>
            </a:pPr>
            <a:r>
              <a:t>Step-by-Step Failure Costs</a:t>
            </a:r>
          </a:p>
          <a:p>
            <a:pPr>
              <a:defRPr sz="1100" b="1"/>
            </a:pPr>
            <a:r>
              <a:t>Critical Steps (Top 8):</a:t>
            </a:r>
          </a:p>
          <a:p>
            <a:pPr>
              <a:defRPr sz="1000">
                <a:solidFill>
                  <a:srgbClr val="FF8C00"/>
                </a:solidFill>
              </a:defRPr>
            </a:pPr>
            <a:r>
              <a:t>  6. pour_water: 21.6 (×1.8)</a:t>
            </a:r>
          </a:p>
          <a:p>
            <a:pPr>
              <a:defRPr sz="1000">
                <a:solidFill>
                  <a:srgbClr val="FF8C00"/>
                </a:solidFill>
              </a:defRPr>
            </a:pPr>
            <a:r>
              <a:t>  4. heat_water: 18.0 (×1.5)</a:t>
            </a:r>
          </a:p>
          <a:p>
            <a:pPr>
              <a:defRPr sz="1000"/>
            </a:pPr>
            <a:r>
              <a:t>  7. steep_tea: 14.4 (×1.2)</a:t>
            </a:r>
          </a:p>
          <a:p>
            <a:pPr>
              <a:defRPr sz="1000"/>
            </a:pPr>
            <a:r>
              <a:t>  3. fill_kettle: 13.2 (×1.1)</a:t>
            </a:r>
          </a:p>
          <a:p>
            <a:pPr>
              <a:defRPr sz="1000"/>
            </a:pPr>
            <a:r>
              <a:t>  8. remove_tea_bag: 13.2 (×1.1)</a:t>
            </a:r>
          </a:p>
          <a:p>
            <a:pPr>
              <a:defRPr sz="1000"/>
            </a:pPr>
            <a:r>
              <a:t>  1. get_mug: 12.0 (×1.0)</a:t>
            </a:r>
          </a:p>
          <a:p>
            <a:pPr>
              <a:defRPr sz="1000"/>
            </a:pPr>
            <a:r>
              <a:t>  2. get_tea_bag: 12.0 (×1.0)</a:t>
            </a:r>
          </a:p>
          <a:p>
            <a:pPr>
              <a:defRPr sz="1000"/>
            </a:pPr>
            <a:r>
              <a:t>  5. place_tea_bag: 12.0 (×1.0)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005840"/>
            <a:ext cx="4114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4472C4"/>
                </a:solidFill>
              </a:defRPr>
            </a:pPr>
            <a:r>
              <a:t>Performance Comparison</a:t>
            </a:r>
          </a:p>
          <a:p>
            <a:pPr>
              <a:defRPr sz="1000" b="1"/>
            </a:pPr>
            <a:r>
              <a:t>Policy          Reward     Fails    Ints    </a:t>
            </a:r>
          </a:p>
          <a:p>
            <a:pPr>
              <a:defRPr sz="1000"/>
            </a:pPr>
            <a:r>
              <a:t>Random          -233.9     4.53     23.00   </a:t>
            </a:r>
          </a:p>
          <a:p>
            <a:pPr>
              <a:defRPr sz="1000"/>
            </a:pPr>
            <a:r>
              <a:t>Proactive       -217.9     1.49     33.31   </a:t>
            </a:r>
          </a:p>
          <a:p>
            <a:pPr>
              <a:defRPr sz="1000"/>
            </a:pPr>
            <a:r>
              <a:t>Reactive        -222.0     1.30     35.27   </a:t>
            </a:r>
          </a:p>
          <a:p>
            <a:pPr>
              <a:defRPr sz="1000" b="1">
                <a:solidFill>
                  <a:srgbClr val="008000"/>
                </a:solidFill>
              </a:defRPr>
            </a:pPr>
            <a:r>
              <a:t>RL_PPO          -156.2     5.48     0.00   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3383280"/>
            <a:ext cx="4114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4472C4"/>
                </a:solidFill>
              </a:defRPr>
            </a:pPr>
            <a:r>
              <a:t>RL Performance</a:t>
            </a:r>
          </a:p>
          <a:p>
            <a:pPr>
              <a:defRPr sz="1100"/>
            </a:pPr>
            <a:r>
              <a:t>• Improvement over Best Baseline: +28.31%</a:t>
            </a:r>
          </a:p>
          <a:p>
            <a:pPr>
              <a:defRPr sz="1100"/>
            </a:pPr>
            <a:r>
              <a:t>• Best Baseline: Proactive</a:t>
            </a:r>
          </a:p>
          <a:p>
            <a:pPr>
              <a:defRPr sz="1100">
                <a:solidFill>
                  <a:srgbClr val="008000"/>
                </a:solidFill>
              </a:defRPr>
            </a:pPr>
            <a:r>
              <a:t>• Status: ✓ Success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4572000"/>
            <a:ext cx="4114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4472C4"/>
                </a:solidFill>
              </a:defRPr>
            </a:pPr>
            <a:r>
              <a:t>Intervention Patterns</a:t>
            </a:r>
          </a:p>
          <a:p>
            <a:pPr>
              <a:defRPr sz="1100"/>
            </a:pPr>
            <a:r>
              <a:t>• Mean Interruptions: 0.00</a:t>
            </a:r>
          </a:p>
          <a:p>
            <a:pPr>
              <a:defRPr sz="1100"/>
            </a:pPr>
            <a:r>
              <a:t>• Intervention Rate: 0.0% of steps</a:t>
            </a:r>
          </a:p>
          <a:p>
            <a:pPr>
              <a:defRPr sz="1100"/>
            </a:pPr>
            <a:r>
              <a:t>• Mean Failures: 5.48</a:t>
            </a:r>
          </a:p>
          <a:p>
            <a:pPr>
              <a:defRPr sz="1100"/>
            </a:pPr>
            <a:r>
              <a:t>• Strategy: Strategic Silence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4472C4"/>
                </a:solidFill>
              </a:defRPr>
            </a:pPr>
            <a:r>
              <a:t>Make Sandwich - Balanced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4114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4472C4"/>
                </a:solidFill>
              </a:defRPr>
            </a:pPr>
            <a:r>
              <a:t>Task Overview</a:t>
            </a:r>
          </a:p>
          <a:p>
            <a:pPr>
              <a:defRPr sz="1100"/>
            </a:pPr>
            <a:r>
              <a:t>• Domain: Cooking</a:t>
            </a:r>
          </a:p>
          <a:p>
            <a:pPr>
              <a:defRPr sz="1100"/>
            </a:pPr>
            <a:r>
              <a:t>• Steps: 9</a:t>
            </a:r>
          </a:p>
          <a:p>
            <a:pPr>
              <a:defRPr sz="1100"/>
            </a:pPr>
            <a:r>
              <a:t>• Base Failure Cost: 15.0</a:t>
            </a:r>
          </a:p>
          <a:p>
            <a:pPr>
              <a:defRPr sz="1100"/>
            </a:pPr>
            <a:r>
              <a:t>• Interruption Cost: 5.0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9456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4472C4"/>
                </a:solidFill>
              </a:defRPr>
            </a:pPr>
            <a:r>
              <a:t>Cost Regime</a:t>
            </a:r>
          </a:p>
          <a:p>
            <a:pPr>
              <a:defRPr sz="1100"/>
            </a:pPr>
            <a:r>
              <a:t>• Interruption Cost: 5.0</a:t>
            </a:r>
          </a:p>
          <a:p>
            <a:pPr>
              <a:defRPr sz="1100"/>
            </a:pPr>
            <a:r>
              <a:t>• Failure Cost: 15.0</a:t>
            </a:r>
          </a:p>
          <a:p>
            <a:pPr>
              <a:defRPr sz="1100"/>
            </a:pPr>
            <a:r>
              <a:t>• Ratio: 3.0 (Standard assistance - balanced costs)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108960"/>
            <a:ext cx="4114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4472C4"/>
                </a:solidFill>
              </a:defRPr>
            </a:pPr>
            <a:r>
              <a:t>Step-by-Step Failure Costs</a:t>
            </a:r>
          </a:p>
          <a:p>
            <a:pPr>
              <a:defRPr sz="1100" b="1"/>
            </a:pPr>
            <a:r>
              <a:t>Critical Steps (Top 8):</a:t>
            </a:r>
          </a:p>
          <a:p>
            <a:pPr>
              <a:defRPr sz="1000">
                <a:solidFill>
                  <a:srgbClr val="FF8C00"/>
                </a:solidFill>
              </a:defRPr>
            </a:pPr>
            <a:r>
              <a:t>  8. prepare_sandwich: 22.5 (×1.5)</a:t>
            </a:r>
          </a:p>
          <a:p>
            <a:pPr>
              <a:defRPr sz="1000"/>
            </a:pPr>
            <a:r>
              <a:t>  7. add_fillings: 19.5 (×1.3)</a:t>
            </a:r>
          </a:p>
          <a:p>
            <a:pPr>
              <a:defRPr sz="1000"/>
            </a:pPr>
            <a:r>
              <a:t>  6. spread_condiments: 18.0 (×1.2)</a:t>
            </a:r>
          </a:p>
          <a:p>
            <a:pPr>
              <a:defRPr sz="1000"/>
            </a:pPr>
            <a:r>
              <a:t>  5. prepare_bread: 16.5 (×1.1)</a:t>
            </a:r>
          </a:p>
          <a:p>
            <a:pPr>
              <a:defRPr sz="1000"/>
            </a:pPr>
            <a:r>
              <a:t>  1. get_ingredients: 15.0 (×1.0)</a:t>
            </a:r>
          </a:p>
          <a:p>
            <a:pPr>
              <a:defRPr sz="1000"/>
            </a:pPr>
            <a:r>
              <a:t>  2. get_plate: 15.0 (×1.0)</a:t>
            </a:r>
          </a:p>
          <a:p>
            <a:pPr>
              <a:defRPr sz="1000"/>
            </a:pPr>
            <a:r>
              <a:t>  3. get_knife: 15.0 (×1.0)</a:t>
            </a:r>
          </a:p>
          <a:p>
            <a:pPr>
              <a:defRPr sz="1000"/>
            </a:pPr>
            <a:r>
              <a:t>  4. arrange_workspace: 15.0 (×1.0)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005840"/>
            <a:ext cx="4114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4472C4"/>
                </a:solidFill>
              </a:defRPr>
            </a:pPr>
            <a:r>
              <a:t>Performance Comparison</a:t>
            </a:r>
          </a:p>
          <a:p>
            <a:pPr>
              <a:defRPr sz="1000" b="1"/>
            </a:pPr>
            <a:r>
              <a:t>Policy          Reward     Fails    Ints    </a:t>
            </a:r>
          </a:p>
          <a:p>
            <a:pPr>
              <a:defRPr sz="1000"/>
            </a:pPr>
            <a:r>
              <a:t>Random          -246.9     4.53     23.00   </a:t>
            </a:r>
          </a:p>
          <a:p>
            <a:pPr>
              <a:defRPr sz="1000"/>
            </a:pPr>
            <a:r>
              <a:t>Proactive       -224.4     1.49     33.31   </a:t>
            </a:r>
          </a:p>
          <a:p>
            <a:pPr>
              <a:defRPr sz="1000"/>
            </a:pPr>
            <a:r>
              <a:t>Reactive        -226.5     1.30     35.27   </a:t>
            </a:r>
          </a:p>
          <a:p>
            <a:pPr>
              <a:defRPr sz="1000" b="1">
                <a:solidFill>
                  <a:srgbClr val="008000"/>
                </a:solidFill>
              </a:defRPr>
            </a:pPr>
            <a:r>
              <a:t>RL_PPO          -182.0     5.50     0.97   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3383280"/>
            <a:ext cx="4114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4472C4"/>
                </a:solidFill>
              </a:defRPr>
            </a:pPr>
            <a:r>
              <a:t>RL Performance</a:t>
            </a:r>
          </a:p>
          <a:p>
            <a:pPr>
              <a:defRPr sz="1100"/>
            </a:pPr>
            <a:r>
              <a:t>• Improvement over Best Baseline: +18.92%</a:t>
            </a:r>
          </a:p>
          <a:p>
            <a:pPr>
              <a:defRPr sz="1100"/>
            </a:pPr>
            <a:r>
              <a:t>• Best Baseline: Proactive</a:t>
            </a:r>
          </a:p>
          <a:p>
            <a:pPr>
              <a:defRPr sz="1100">
                <a:solidFill>
                  <a:srgbClr val="008000"/>
                </a:solidFill>
              </a:defRPr>
            </a:pPr>
            <a:r>
              <a:t>• Status: ✓ Success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4572000"/>
            <a:ext cx="4114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4472C4"/>
                </a:solidFill>
              </a:defRPr>
            </a:pPr>
            <a:r>
              <a:t>Intervention Patterns</a:t>
            </a:r>
          </a:p>
          <a:p>
            <a:pPr>
              <a:defRPr sz="1100"/>
            </a:pPr>
            <a:r>
              <a:t>• Mean Interruptions: 0.97</a:t>
            </a:r>
          </a:p>
          <a:p>
            <a:pPr>
              <a:defRPr sz="1100"/>
            </a:pPr>
            <a:r>
              <a:t>• Intervention Rate: 10.8% of steps</a:t>
            </a:r>
          </a:p>
          <a:p>
            <a:pPr>
              <a:defRPr sz="1100"/>
            </a:pPr>
            <a:r>
              <a:t>• Mean Failures: 5.50</a:t>
            </a:r>
          </a:p>
          <a:p>
            <a:pPr>
              <a:defRPr sz="1100"/>
            </a:pPr>
            <a:r>
              <a:t>• Strategy: Strategic Silence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4472C4"/>
                </a:solidFill>
              </a:defRPr>
            </a:pPr>
            <a:r>
              <a:t>Cooking - Balanced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4114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4472C4"/>
                </a:solidFill>
              </a:defRPr>
            </a:pPr>
            <a:r>
              <a:t>Task Overview</a:t>
            </a:r>
          </a:p>
          <a:p>
            <a:pPr>
              <a:defRPr sz="1100"/>
            </a:pPr>
            <a:r>
              <a:t>• Domain: Cooking</a:t>
            </a:r>
          </a:p>
          <a:p>
            <a:pPr>
              <a:defRPr sz="1100"/>
            </a:pPr>
            <a:r>
              <a:t>• Steps: 14</a:t>
            </a:r>
          </a:p>
          <a:p>
            <a:pPr>
              <a:defRPr sz="1100"/>
            </a:pPr>
            <a:r>
              <a:t>• Base Failure Cost: 20.0</a:t>
            </a:r>
          </a:p>
          <a:p>
            <a:pPr>
              <a:defRPr sz="1100"/>
            </a:pPr>
            <a:r>
              <a:t>• Interruption Cost: 5.0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9456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4472C4"/>
                </a:solidFill>
              </a:defRPr>
            </a:pPr>
            <a:r>
              <a:t>Cost Regime</a:t>
            </a:r>
          </a:p>
          <a:p>
            <a:pPr>
              <a:defRPr sz="1100"/>
            </a:pPr>
            <a:r>
              <a:t>• Interruption Cost: 5.0</a:t>
            </a:r>
          </a:p>
          <a:p>
            <a:pPr>
              <a:defRPr sz="1100"/>
            </a:pPr>
            <a:r>
              <a:t>• Failure Cost: 15.0</a:t>
            </a:r>
          </a:p>
          <a:p>
            <a:pPr>
              <a:defRPr sz="1100"/>
            </a:pPr>
            <a:r>
              <a:t>• Ratio: 3.0 (Standard assistance - balanced costs)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108960"/>
            <a:ext cx="4114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4472C4"/>
                </a:solidFill>
              </a:defRPr>
            </a:pPr>
            <a:r>
              <a:t>Step-by-Step Failure Costs</a:t>
            </a:r>
          </a:p>
          <a:p>
            <a:pPr>
              <a:defRPr sz="1100" b="1"/>
            </a:pPr>
            <a:r>
              <a:t>Critical Steps (Top 8):</a:t>
            </a:r>
          </a:p>
          <a:p>
            <a:pPr>
              <a:defRPr sz="1000">
                <a:solidFill>
                  <a:srgbClr val="C00000"/>
                </a:solidFill>
              </a:defRPr>
            </a:pPr>
            <a:r>
              <a:t>  10. cook_thoroughly: 40.0 (×2.0)</a:t>
            </a:r>
          </a:p>
          <a:p>
            <a:pPr>
              <a:defRPr sz="1000">
                <a:solidFill>
                  <a:srgbClr val="FF8C00"/>
                </a:solidFill>
              </a:defRPr>
            </a:pPr>
            <a:r>
              <a:t>  7. saute_ingredients: 36.0 (×1.8)</a:t>
            </a:r>
          </a:p>
          <a:p>
            <a:pPr>
              <a:defRPr sz="1000">
                <a:solidFill>
                  <a:srgbClr val="FF8C00"/>
                </a:solidFill>
              </a:defRPr>
            </a:pPr>
            <a:r>
              <a:t>  12. turn_off_stove: 32.0 (×1.6)</a:t>
            </a:r>
          </a:p>
          <a:p>
            <a:pPr>
              <a:defRPr sz="1000">
                <a:solidFill>
                  <a:srgbClr val="FF8C00"/>
                </a:solidFill>
              </a:defRPr>
            </a:pPr>
            <a:r>
              <a:t>  4. preheat_pan: 30.0 (×1.5)</a:t>
            </a:r>
          </a:p>
          <a:p>
            <a:pPr>
              <a:defRPr sz="1000">
                <a:solidFill>
                  <a:srgbClr val="FF8C00"/>
                </a:solidFill>
              </a:defRPr>
            </a:pPr>
            <a:r>
              <a:t>  9. add_remaining: 30.0 (×1.5)</a:t>
            </a:r>
          </a:p>
          <a:p>
            <a:pPr>
              <a:defRPr sz="1000"/>
            </a:pPr>
            <a:r>
              <a:t>  6. add_first_ingredients: 28.0 (×1.4)</a:t>
            </a:r>
          </a:p>
          <a:p>
            <a:pPr>
              <a:defRPr sz="1000"/>
            </a:pPr>
            <a:r>
              <a:t>  5. add_oil: 26.0 (×1.3)</a:t>
            </a:r>
          </a:p>
          <a:p>
            <a:pPr>
              <a:defRPr sz="1000"/>
            </a:pPr>
            <a:r>
              <a:t>  13. plate_food: 26.0 (×1.3)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005840"/>
            <a:ext cx="4114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4472C4"/>
                </a:solidFill>
              </a:defRPr>
            </a:pPr>
            <a:r>
              <a:t>Performance Comparison</a:t>
            </a:r>
          </a:p>
          <a:p>
            <a:pPr>
              <a:defRPr sz="1000" b="1"/>
            </a:pPr>
            <a:r>
              <a:t>Policy          Reward     Fails    Ints    </a:t>
            </a:r>
          </a:p>
          <a:p>
            <a:pPr>
              <a:defRPr sz="1000"/>
            </a:pPr>
            <a:r>
              <a:t>Random          -465.0     6.90     37.54   </a:t>
            </a:r>
          </a:p>
          <a:p>
            <a:pPr>
              <a:defRPr sz="1000"/>
            </a:pPr>
            <a:r>
              <a:t>Proactive       -376.4     1.95     52.90   </a:t>
            </a:r>
          </a:p>
          <a:p>
            <a:pPr>
              <a:defRPr sz="1000"/>
            </a:pPr>
            <a:r>
              <a:t>Reactive        -402.2     1.88     58.85   </a:t>
            </a:r>
          </a:p>
          <a:p>
            <a:pPr>
              <a:defRPr sz="1000" b="1">
                <a:solidFill>
                  <a:srgbClr val="008000"/>
                </a:solidFill>
              </a:defRPr>
            </a:pPr>
            <a:r>
              <a:t>RL_PPO          -355.6     8.58     0.00   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3383280"/>
            <a:ext cx="4114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4472C4"/>
                </a:solidFill>
              </a:defRPr>
            </a:pPr>
            <a:r>
              <a:t>RL Performance</a:t>
            </a:r>
          </a:p>
          <a:p>
            <a:pPr>
              <a:defRPr sz="1100"/>
            </a:pPr>
            <a:r>
              <a:t>• Improvement over Best Baseline: +5.52%</a:t>
            </a:r>
          </a:p>
          <a:p>
            <a:pPr>
              <a:defRPr sz="1100"/>
            </a:pPr>
            <a:r>
              <a:t>• Best Baseline: Proactive</a:t>
            </a:r>
          </a:p>
          <a:p>
            <a:pPr>
              <a:defRPr sz="1100">
                <a:solidFill>
                  <a:srgbClr val="008000"/>
                </a:solidFill>
              </a:defRPr>
            </a:pPr>
            <a:r>
              <a:t>• Status: ✓ Success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4572000"/>
            <a:ext cx="4114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4472C4"/>
                </a:solidFill>
              </a:defRPr>
            </a:pPr>
            <a:r>
              <a:t>Intervention Patterns</a:t>
            </a:r>
          </a:p>
          <a:p>
            <a:pPr>
              <a:defRPr sz="1100"/>
            </a:pPr>
            <a:r>
              <a:t>• Mean Interruptions: 0.00</a:t>
            </a:r>
          </a:p>
          <a:p>
            <a:pPr>
              <a:defRPr sz="1100"/>
            </a:pPr>
            <a:r>
              <a:t>• Intervention Rate: 0.0% of steps</a:t>
            </a:r>
          </a:p>
          <a:p>
            <a:pPr>
              <a:defRPr sz="1100"/>
            </a:pPr>
            <a:r>
              <a:t>• Mean Failures: 8.58</a:t>
            </a:r>
          </a:p>
          <a:p>
            <a:pPr>
              <a:defRPr sz="1100"/>
            </a:pPr>
            <a:r>
              <a:t>• Strategy: Strategic Silence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4472C4"/>
                </a:solidFill>
              </a:defRPr>
            </a:pPr>
            <a:r>
              <a:t>Make Stencil - Balanced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4114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4472C4"/>
                </a:solidFill>
              </a:defRPr>
            </a:pPr>
            <a:r>
              <a:t>Task Overview</a:t>
            </a:r>
          </a:p>
          <a:p>
            <a:pPr>
              <a:defRPr sz="1100"/>
            </a:pPr>
            <a:r>
              <a:t>• Domain: Crafting</a:t>
            </a:r>
          </a:p>
          <a:p>
            <a:pPr>
              <a:defRPr sz="1100"/>
            </a:pPr>
            <a:r>
              <a:t>• Steps: 17</a:t>
            </a:r>
          </a:p>
          <a:p>
            <a:pPr>
              <a:defRPr sz="1100"/>
            </a:pPr>
            <a:r>
              <a:t>• Base Failure Cost: 30.0</a:t>
            </a:r>
          </a:p>
          <a:p>
            <a:pPr>
              <a:defRPr sz="1100"/>
            </a:pPr>
            <a:r>
              <a:t>• Interruption Cost: 5.0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9456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4472C4"/>
                </a:solidFill>
              </a:defRPr>
            </a:pPr>
            <a:r>
              <a:t>Cost Regime</a:t>
            </a:r>
          </a:p>
          <a:p>
            <a:pPr>
              <a:defRPr sz="1100"/>
            </a:pPr>
            <a:r>
              <a:t>• Interruption Cost: 5.0</a:t>
            </a:r>
          </a:p>
          <a:p>
            <a:pPr>
              <a:defRPr sz="1100"/>
            </a:pPr>
            <a:r>
              <a:t>• Failure Cost: 15.0</a:t>
            </a:r>
          </a:p>
          <a:p>
            <a:pPr>
              <a:defRPr sz="1100"/>
            </a:pPr>
            <a:r>
              <a:t>• Ratio: 3.0 (Standard assistance - balanced costs)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108960"/>
            <a:ext cx="4114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4472C4"/>
                </a:solidFill>
              </a:defRPr>
            </a:pPr>
            <a:r>
              <a:t>Step-by-Step Failure Costs</a:t>
            </a:r>
          </a:p>
          <a:p>
            <a:pPr>
              <a:defRPr sz="1100" b="1"/>
            </a:pPr>
            <a:r>
              <a:t>Critical Steps (Top 8):</a:t>
            </a:r>
          </a:p>
          <a:p>
            <a:pPr>
              <a:defRPr sz="1000">
                <a:solidFill>
                  <a:srgbClr val="C00000"/>
                </a:solidFill>
              </a:defRPr>
            </a:pPr>
            <a:r>
              <a:t>  3. check_exhaust: 75.0 (×2.5)</a:t>
            </a:r>
          </a:p>
          <a:p>
            <a:pPr>
              <a:defRPr sz="1000">
                <a:solidFill>
                  <a:srgbClr val="C00000"/>
                </a:solidFill>
              </a:defRPr>
            </a:pPr>
            <a:r>
              <a:t>  10. monitor_cutting: 66.0 (×2.2)</a:t>
            </a:r>
          </a:p>
          <a:p>
            <a:pPr>
              <a:defRPr sz="1000">
                <a:solidFill>
                  <a:srgbClr val="C00000"/>
                </a:solidFill>
              </a:defRPr>
            </a:pPr>
            <a:r>
              <a:t>  9. start_cutting: 60.0 (×2.0)</a:t>
            </a:r>
          </a:p>
          <a:p>
            <a:pPr>
              <a:defRPr sz="1000">
                <a:solidFill>
                  <a:srgbClr val="FF8C00"/>
                </a:solidFill>
              </a:defRPr>
            </a:pPr>
            <a:r>
              <a:t>  6. focus_laser: 54.0 (×1.8)</a:t>
            </a:r>
          </a:p>
          <a:p>
            <a:pPr>
              <a:defRPr sz="1000">
                <a:solidFill>
                  <a:srgbClr val="FF8C00"/>
                </a:solidFill>
              </a:defRPr>
            </a:pPr>
            <a:r>
              <a:t>  7. set_parameters: 48.0 (×1.6)</a:t>
            </a:r>
          </a:p>
          <a:p>
            <a:pPr>
              <a:defRPr sz="1000">
                <a:solidFill>
                  <a:srgbClr val="FF8C00"/>
                </a:solidFill>
              </a:defRPr>
            </a:pPr>
            <a:r>
              <a:t>  16. apply_paint: 45.0 (×1.5)</a:t>
            </a:r>
          </a:p>
          <a:p>
            <a:pPr>
              <a:defRPr sz="1000"/>
            </a:pPr>
            <a:r>
              <a:t>  5. load_material: 42.0 (×1.4)</a:t>
            </a:r>
          </a:p>
          <a:p>
            <a:pPr>
              <a:defRPr sz="1000"/>
            </a:pPr>
            <a:r>
              <a:t>  15. secure_stencil: 42.0 (×1.4)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005840"/>
            <a:ext cx="4114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4472C4"/>
                </a:solidFill>
              </a:defRPr>
            </a:pPr>
            <a:r>
              <a:t>Performance Comparison</a:t>
            </a:r>
          </a:p>
          <a:p>
            <a:pPr>
              <a:defRPr sz="1000" b="1"/>
            </a:pPr>
            <a:r>
              <a:t>Policy          Reward     Fails    Ints    </a:t>
            </a:r>
          </a:p>
          <a:p>
            <a:pPr>
              <a:defRPr sz="1000"/>
            </a:pPr>
            <a:r>
              <a:t>Random          -736.5     9.06     45.25   </a:t>
            </a:r>
          </a:p>
          <a:p>
            <a:pPr>
              <a:defRPr sz="1000"/>
            </a:pPr>
            <a:r>
              <a:t>Proactive       -535.7     2.47     68.00   </a:t>
            </a:r>
          </a:p>
          <a:p>
            <a:pPr>
              <a:defRPr sz="1000"/>
            </a:pPr>
            <a:r>
              <a:t>Reactive        -528.6     2.34     70.25   </a:t>
            </a:r>
          </a:p>
          <a:p>
            <a:pPr>
              <a:defRPr sz="1000" b="1">
                <a:solidFill>
                  <a:srgbClr val="C00000"/>
                </a:solidFill>
              </a:defRPr>
            </a:pPr>
            <a:r>
              <a:t>RL_PPO          -605.5     10.05    0.00   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3383280"/>
            <a:ext cx="4114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4472C4"/>
                </a:solidFill>
              </a:defRPr>
            </a:pPr>
            <a:r>
              <a:t>RL Performance</a:t>
            </a:r>
          </a:p>
          <a:p>
            <a:pPr>
              <a:defRPr sz="1100"/>
            </a:pPr>
            <a:r>
              <a:t>• Improvement over Best Baseline: -14.53%</a:t>
            </a:r>
          </a:p>
          <a:p>
            <a:pPr>
              <a:defRPr sz="1100"/>
            </a:pPr>
            <a:r>
              <a:t>• Best Baseline: Reactive</a:t>
            </a:r>
          </a:p>
          <a:p>
            <a:pPr>
              <a:defRPr sz="1100">
                <a:solidFill>
                  <a:srgbClr val="C00000"/>
                </a:solidFill>
              </a:defRPr>
            </a:pPr>
            <a:r>
              <a:t>• Status: ✗ Failed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4572000"/>
            <a:ext cx="4114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4472C4"/>
                </a:solidFill>
              </a:defRPr>
            </a:pPr>
            <a:r>
              <a:t>Intervention Patterns</a:t>
            </a:r>
          </a:p>
          <a:p>
            <a:pPr>
              <a:defRPr sz="1100"/>
            </a:pPr>
            <a:r>
              <a:t>• Mean Interruptions: 0.00</a:t>
            </a:r>
          </a:p>
          <a:p>
            <a:pPr>
              <a:defRPr sz="1100"/>
            </a:pPr>
            <a:r>
              <a:t>• Intervention Rate: 0.0% of steps</a:t>
            </a:r>
          </a:p>
          <a:p>
            <a:pPr>
              <a:defRPr sz="1100"/>
            </a:pPr>
            <a:r>
              <a:t>• Mean Failures: 10.05</a:t>
            </a:r>
          </a:p>
          <a:p>
            <a:pPr>
              <a:defRPr sz="1100"/>
            </a:pPr>
            <a:r>
              <a:t>• Strategy: Strategic Silence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4472C4"/>
                </a:solidFill>
              </a:defRPr>
            </a:pPr>
            <a:r>
              <a:t>Latte Making - Balanced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4114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4472C4"/>
                </a:solidFill>
              </a:defRPr>
            </a:pPr>
            <a:r>
              <a:t>Task Overview</a:t>
            </a:r>
          </a:p>
          <a:p>
            <a:pPr>
              <a:defRPr sz="1100"/>
            </a:pPr>
            <a:r>
              <a:t>• Domain: Technical</a:t>
            </a:r>
          </a:p>
          <a:p>
            <a:pPr>
              <a:defRPr sz="1100"/>
            </a:pPr>
            <a:r>
              <a:t>• Steps: 20</a:t>
            </a:r>
          </a:p>
          <a:p>
            <a:pPr>
              <a:defRPr sz="1100"/>
            </a:pPr>
            <a:r>
              <a:t>• Base Failure Cost: 25.0</a:t>
            </a:r>
          </a:p>
          <a:p>
            <a:pPr>
              <a:defRPr sz="1100"/>
            </a:pPr>
            <a:r>
              <a:t>• Interruption Cost: 5.0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9456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4472C4"/>
                </a:solidFill>
              </a:defRPr>
            </a:pPr>
            <a:r>
              <a:t>Cost Regime</a:t>
            </a:r>
          </a:p>
          <a:p>
            <a:pPr>
              <a:defRPr sz="1100"/>
            </a:pPr>
            <a:r>
              <a:t>• Interruption Cost: 5.0</a:t>
            </a:r>
          </a:p>
          <a:p>
            <a:pPr>
              <a:defRPr sz="1100"/>
            </a:pPr>
            <a:r>
              <a:t>• Failure Cost: 15.0</a:t>
            </a:r>
          </a:p>
          <a:p>
            <a:pPr>
              <a:defRPr sz="1100"/>
            </a:pPr>
            <a:r>
              <a:t>• Ratio: 3.0 (Standard assistance - balanced costs)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108960"/>
            <a:ext cx="4114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4472C4"/>
                </a:solidFill>
              </a:defRPr>
            </a:pPr>
            <a:r>
              <a:t>Step-by-Step Failure Costs</a:t>
            </a:r>
          </a:p>
          <a:p>
            <a:pPr>
              <a:defRPr sz="1100" b="1"/>
            </a:pPr>
            <a:r>
              <a:t>Critical Steps (Top 8):</a:t>
            </a:r>
          </a:p>
          <a:p>
            <a:pPr>
              <a:defRPr sz="1000">
                <a:solidFill>
                  <a:srgbClr val="C00000"/>
                </a:solidFill>
              </a:defRPr>
            </a:pPr>
            <a:r>
              <a:t>  6. brew_coffee: 50.0 (×2.0)</a:t>
            </a:r>
          </a:p>
          <a:p>
            <a:pPr>
              <a:defRPr sz="1000">
                <a:solidFill>
                  <a:srgbClr val="C00000"/>
                </a:solidFill>
              </a:defRPr>
            </a:pPr>
            <a:r>
              <a:t>  10. steam_milk: 50.0 (×2.0)</a:t>
            </a:r>
          </a:p>
          <a:p>
            <a:pPr>
              <a:defRPr sz="1000">
                <a:solidFill>
                  <a:srgbClr val="FF8C00"/>
                </a:solidFill>
              </a:defRPr>
            </a:pPr>
            <a:r>
              <a:t>  11. texture_milk: 37.5 (×1.5)</a:t>
            </a:r>
          </a:p>
          <a:p>
            <a:pPr>
              <a:defRPr sz="1000">
                <a:solidFill>
                  <a:srgbClr val="FF8C00"/>
                </a:solidFill>
              </a:defRPr>
            </a:pPr>
            <a:r>
              <a:t>  18. clean_wand: 37.5 (×1.5)</a:t>
            </a:r>
          </a:p>
          <a:p>
            <a:pPr>
              <a:defRPr sz="1000"/>
            </a:pPr>
            <a:r>
              <a:t>  4. attach_portafilter: 35.0 (×1.4)</a:t>
            </a:r>
          </a:p>
          <a:p>
            <a:pPr>
              <a:defRPr sz="1000"/>
            </a:pPr>
            <a:r>
              <a:t>  14. pour_milk_slowly: 35.0 (×1.4)</a:t>
            </a:r>
          </a:p>
          <a:p>
            <a:pPr>
              <a:defRPr sz="1000"/>
            </a:pPr>
            <a:r>
              <a:t>  3. prepare_portafilter: 32.5 (×1.3)</a:t>
            </a:r>
          </a:p>
          <a:p>
            <a:pPr>
              <a:defRPr sz="1000"/>
            </a:pPr>
            <a:r>
              <a:t>  15. create_pattern: 32.5 (×1.3)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005840"/>
            <a:ext cx="4114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4472C4"/>
                </a:solidFill>
              </a:defRPr>
            </a:pPr>
            <a:r>
              <a:t>Performance Comparison</a:t>
            </a:r>
          </a:p>
          <a:p>
            <a:pPr>
              <a:defRPr sz="1000" b="1"/>
            </a:pPr>
            <a:r>
              <a:t>Policy          Reward     Fails    Ints    </a:t>
            </a:r>
          </a:p>
          <a:p>
            <a:pPr>
              <a:defRPr sz="1000"/>
            </a:pPr>
            <a:r>
              <a:t>Random          -731.2     10.50    53.09   </a:t>
            </a:r>
          </a:p>
          <a:p>
            <a:pPr>
              <a:defRPr sz="1000"/>
            </a:pPr>
            <a:r>
              <a:t>Proactive       -576.2     3.02     78.64   </a:t>
            </a:r>
          </a:p>
          <a:p>
            <a:pPr>
              <a:defRPr sz="1000"/>
            </a:pPr>
            <a:r>
              <a:t>Reactive        -582.9     2.70     83.55   </a:t>
            </a:r>
          </a:p>
          <a:p>
            <a:pPr>
              <a:defRPr sz="1000" b="1">
                <a:solidFill>
                  <a:srgbClr val="008000"/>
                </a:solidFill>
              </a:defRPr>
            </a:pPr>
            <a:r>
              <a:t>RL_PPO          -556.4     11.92    0.00   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3383280"/>
            <a:ext cx="4114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4472C4"/>
                </a:solidFill>
              </a:defRPr>
            </a:pPr>
            <a:r>
              <a:t>RL Performance</a:t>
            </a:r>
          </a:p>
          <a:p>
            <a:pPr>
              <a:defRPr sz="1100"/>
            </a:pPr>
            <a:r>
              <a:t>• Improvement over Best Baseline: +3.45%</a:t>
            </a:r>
          </a:p>
          <a:p>
            <a:pPr>
              <a:defRPr sz="1100"/>
            </a:pPr>
            <a:r>
              <a:t>• Best Baseline: Proactive</a:t>
            </a:r>
          </a:p>
          <a:p>
            <a:pPr>
              <a:defRPr sz="1100">
                <a:solidFill>
                  <a:srgbClr val="008000"/>
                </a:solidFill>
              </a:defRPr>
            </a:pPr>
            <a:r>
              <a:t>• Status: ✓ Success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4572000"/>
            <a:ext cx="4114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4472C4"/>
                </a:solidFill>
              </a:defRPr>
            </a:pPr>
            <a:r>
              <a:t>Intervention Patterns</a:t>
            </a:r>
          </a:p>
          <a:p>
            <a:pPr>
              <a:defRPr sz="1100"/>
            </a:pPr>
            <a:r>
              <a:t>• Mean Interruptions: 0.00</a:t>
            </a:r>
          </a:p>
          <a:p>
            <a:pPr>
              <a:defRPr sz="1100"/>
            </a:pPr>
            <a:r>
              <a:t>• Intervention Rate: 0.0% of steps</a:t>
            </a:r>
          </a:p>
          <a:p>
            <a:pPr>
              <a:defRPr sz="1100"/>
            </a:pPr>
            <a:r>
              <a:t>• Mean Failures: 11.92</a:t>
            </a:r>
          </a:p>
          <a:p>
            <a:pPr>
              <a:defRPr sz="1100"/>
            </a:pPr>
            <a:r>
              <a:t>• Strategy: Strategic Silence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4472C4"/>
                </a:solidFill>
              </a:defRPr>
            </a:pPr>
            <a:r>
              <a:t>Regime Summary: Moderate 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4472C4"/>
                </a:solidFill>
              </a:defRPr>
            </a:pPr>
            <a:r>
              <a:t>Casual task - low stakes</a:t>
            </a:r>
          </a:p>
          <a:p>
            <a:pPr>
              <a:defRPr sz="1100"/>
            </a:pPr>
            <a:r>
              <a:t>c_int=5.0, c_fail=10.0, ratio=2.0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920240"/>
            <a:ext cx="7680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4472C4"/>
                </a:solidFill>
              </a:defRPr>
            </a:pPr>
            <a:r>
              <a:t>Performance Across All Tasks</a:t>
            </a:r>
          </a:p>
          <a:p>
            <a:pPr>
              <a:defRPr sz="1100" b="1"/>
            </a:pPr>
            <a:r>
              <a:t>Task               Steps   Improvement   Interrupts   Failures  </a:t>
            </a:r>
          </a:p>
          <a:p>
            <a:pPr>
              <a:defRPr sz="1000">
                <a:solidFill>
                  <a:srgbClr val="008000"/>
                </a:solidFill>
              </a:defRPr>
            </a:pPr>
            <a:r>
              <a:t>make cereal        8        +30.88%         0.00        4.76</a:t>
            </a:r>
          </a:p>
          <a:p>
            <a:pPr>
              <a:defRPr sz="1000">
                <a:solidFill>
                  <a:srgbClr val="008000"/>
                </a:solidFill>
              </a:defRPr>
            </a:pPr>
            <a:r>
              <a:t>make coffee        8        +24.68%         0.00        4.76</a:t>
            </a:r>
          </a:p>
          <a:p>
            <a:pPr>
              <a:defRPr sz="1000">
                <a:solidFill>
                  <a:srgbClr val="008000"/>
                </a:solidFill>
              </a:defRPr>
            </a:pPr>
            <a:r>
              <a:t>make tea           9        +28.31%         0.00        5.48</a:t>
            </a:r>
          </a:p>
          <a:p>
            <a:pPr>
              <a:defRPr sz="1000">
                <a:solidFill>
                  <a:srgbClr val="008000"/>
                </a:solidFill>
              </a:defRPr>
            </a:pPr>
            <a:r>
              <a:t>make sandwich      9        +23.66%         0.00        5.48</a:t>
            </a:r>
          </a:p>
          <a:p>
            <a:pPr>
              <a:defRPr sz="1000">
                <a:solidFill>
                  <a:srgbClr val="008000"/>
                </a:solidFill>
              </a:defRPr>
            </a:pPr>
            <a:r>
              <a:t>cooking            14        +4.70%         1.78        8.42</a:t>
            </a:r>
          </a:p>
          <a:p>
            <a:pPr>
              <a:defRPr sz="1000">
                <a:solidFill>
                  <a:srgbClr val="C00000"/>
                </a:solidFill>
              </a:defRPr>
            </a:pPr>
            <a:r>
              <a:t>make stencil       17       -14.53%         0.00       10.05</a:t>
            </a:r>
          </a:p>
          <a:p>
            <a:pPr>
              <a:defRPr sz="1000">
                <a:solidFill>
                  <a:srgbClr val="008000"/>
                </a:solidFill>
              </a:defRPr>
            </a:pPr>
            <a:r>
              <a:t>latte making       20        +3.45%         0.00       11.92</a:t>
            </a:r>
          </a:p>
          <a:p/>
          <a:p>
            <a:pPr>
              <a:defRPr sz="1100" b="1">
                <a:solidFill>
                  <a:srgbClr val="008000"/>
                </a:solidFill>
              </a:defRPr>
            </a:pPr>
            <a:r>
              <a:t>Mean Improvement: +14.45%  |  Success Rate: 85.7% (6/7 tasks)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4472C4"/>
                </a:solidFill>
              </a:defRPr>
            </a:pPr>
            <a:r>
              <a:t>Make Cereal - Moderate 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4114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4472C4"/>
                </a:solidFill>
              </a:defRPr>
            </a:pPr>
            <a:r>
              <a:t>Task Overview</a:t>
            </a:r>
          </a:p>
          <a:p>
            <a:pPr>
              <a:defRPr sz="1100"/>
            </a:pPr>
            <a:r>
              <a:t>• Domain: Cooking</a:t>
            </a:r>
          </a:p>
          <a:p>
            <a:pPr>
              <a:defRPr sz="1100"/>
            </a:pPr>
            <a:r>
              <a:t>• Steps: 8</a:t>
            </a:r>
          </a:p>
          <a:p>
            <a:pPr>
              <a:defRPr sz="1100"/>
            </a:pPr>
            <a:r>
              <a:t>• Base Failure Cost: 10.0</a:t>
            </a:r>
          </a:p>
          <a:p>
            <a:pPr>
              <a:defRPr sz="1100"/>
            </a:pPr>
            <a:r>
              <a:t>• Interruption Cost: 5.0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9456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4472C4"/>
                </a:solidFill>
              </a:defRPr>
            </a:pPr>
            <a:r>
              <a:t>Cost Regime</a:t>
            </a:r>
          </a:p>
          <a:p>
            <a:pPr>
              <a:defRPr sz="1100"/>
            </a:pPr>
            <a:r>
              <a:t>• Interruption Cost: 5.0</a:t>
            </a:r>
          </a:p>
          <a:p>
            <a:pPr>
              <a:defRPr sz="1100"/>
            </a:pPr>
            <a:r>
              <a:t>• Failure Cost: 10.0</a:t>
            </a:r>
          </a:p>
          <a:p>
            <a:pPr>
              <a:defRPr sz="1100"/>
            </a:pPr>
            <a:r>
              <a:t>• Ratio: 2.0 (Casual task - low stakes)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108960"/>
            <a:ext cx="4114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4472C4"/>
                </a:solidFill>
              </a:defRPr>
            </a:pPr>
            <a:r>
              <a:t>Step-by-Step Failure Costs</a:t>
            </a:r>
          </a:p>
          <a:p>
            <a:pPr>
              <a:defRPr sz="1100" b="1"/>
            </a:pPr>
            <a:r>
              <a:t>Critical Steps (Top 8):</a:t>
            </a:r>
          </a:p>
          <a:p>
            <a:pPr>
              <a:defRPr sz="1000"/>
            </a:pPr>
            <a:r>
              <a:t>  5. pour_milk: 13.0 (×1.3)</a:t>
            </a:r>
          </a:p>
          <a:p>
            <a:pPr>
              <a:defRPr sz="1000"/>
            </a:pPr>
            <a:r>
              <a:t>  4. pour_cereal: 12.0 (×1.2)</a:t>
            </a:r>
          </a:p>
          <a:p>
            <a:pPr>
              <a:defRPr sz="1000"/>
            </a:pPr>
            <a:r>
              <a:t>  1. get_bowl: 10.0 (×1.0)</a:t>
            </a:r>
          </a:p>
          <a:p>
            <a:pPr>
              <a:defRPr sz="1000"/>
            </a:pPr>
            <a:r>
              <a:t>  2. get_cereal: 10.0 (×1.0)</a:t>
            </a:r>
          </a:p>
          <a:p>
            <a:pPr>
              <a:defRPr sz="1000"/>
            </a:pPr>
            <a:r>
              <a:t>  3. get_milk: 10.0 (×1.0)</a:t>
            </a:r>
          </a:p>
          <a:p>
            <a:pPr>
              <a:defRPr sz="1000"/>
            </a:pPr>
            <a:r>
              <a:t>  6. get_spoon: 10.0 (×1.0)</a:t>
            </a:r>
          </a:p>
          <a:p>
            <a:pPr>
              <a:defRPr sz="1000"/>
            </a:pPr>
            <a:r>
              <a:t>  7. return_items: 10.0 (×1.0)</a:t>
            </a:r>
          </a:p>
          <a:p>
            <a:pPr>
              <a:defRPr sz="1000"/>
            </a:pPr>
            <a:r>
              <a:t>  8. serve_cereal: 10.0 (×1.0)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005840"/>
            <a:ext cx="4114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4472C4"/>
                </a:solidFill>
              </a:defRPr>
            </a:pPr>
            <a:r>
              <a:t>Performance Comparison</a:t>
            </a:r>
          </a:p>
          <a:p>
            <a:pPr>
              <a:defRPr sz="1000" b="1"/>
            </a:pPr>
            <a:r>
              <a:t>Policy          Reward     Fails    Ints    </a:t>
            </a:r>
          </a:p>
          <a:p>
            <a:pPr>
              <a:defRPr sz="1000"/>
            </a:pPr>
            <a:r>
              <a:t>Random          -189.5     3.56     21.09   </a:t>
            </a:r>
          </a:p>
          <a:p>
            <a:pPr>
              <a:defRPr sz="1000"/>
            </a:pPr>
            <a:r>
              <a:t>Proactive       -181.9     1.42     28.59   </a:t>
            </a:r>
          </a:p>
          <a:p>
            <a:pPr>
              <a:defRPr sz="1000"/>
            </a:pPr>
            <a:r>
              <a:t>Reactive        -183.9     1.11     30.34   </a:t>
            </a:r>
          </a:p>
          <a:p>
            <a:pPr>
              <a:defRPr sz="1000" b="1">
                <a:solidFill>
                  <a:srgbClr val="008000"/>
                </a:solidFill>
              </a:defRPr>
            </a:pPr>
            <a:r>
              <a:t>RL_PPO          -125.8     4.76     0.00   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3383280"/>
            <a:ext cx="4114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4472C4"/>
                </a:solidFill>
              </a:defRPr>
            </a:pPr>
            <a:r>
              <a:t>RL Performance</a:t>
            </a:r>
          </a:p>
          <a:p>
            <a:pPr>
              <a:defRPr sz="1100"/>
            </a:pPr>
            <a:r>
              <a:t>• Improvement over Best Baseline: +30.88%</a:t>
            </a:r>
          </a:p>
          <a:p>
            <a:pPr>
              <a:defRPr sz="1100"/>
            </a:pPr>
            <a:r>
              <a:t>• Best Baseline: Proactive</a:t>
            </a:r>
          </a:p>
          <a:p>
            <a:pPr>
              <a:defRPr sz="1100">
                <a:solidFill>
                  <a:srgbClr val="008000"/>
                </a:solidFill>
              </a:defRPr>
            </a:pPr>
            <a:r>
              <a:t>• Status: ✓ Success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4572000"/>
            <a:ext cx="4114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4472C4"/>
                </a:solidFill>
              </a:defRPr>
            </a:pPr>
            <a:r>
              <a:t>Intervention Patterns</a:t>
            </a:r>
          </a:p>
          <a:p>
            <a:pPr>
              <a:defRPr sz="1100"/>
            </a:pPr>
            <a:r>
              <a:t>• Mean Interruptions: 0.00</a:t>
            </a:r>
          </a:p>
          <a:p>
            <a:pPr>
              <a:defRPr sz="1100"/>
            </a:pPr>
            <a:r>
              <a:t>• Intervention Rate: 0.0% of steps</a:t>
            </a:r>
          </a:p>
          <a:p>
            <a:pPr>
              <a:defRPr sz="1100"/>
            </a:pPr>
            <a:r>
              <a:t>• Mean Failures: 4.76</a:t>
            </a:r>
          </a:p>
          <a:p>
            <a:pPr>
              <a:defRPr sz="1100"/>
            </a:pPr>
            <a:r>
              <a:t>• Strategy: Strategic Silence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4472C4"/>
                </a:solidFill>
              </a:defRPr>
            </a:pPr>
            <a:r>
              <a:t>Make Coffee - Moderate 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4114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4472C4"/>
                </a:solidFill>
              </a:defRPr>
            </a:pPr>
            <a:r>
              <a:t>Task Overview</a:t>
            </a:r>
          </a:p>
          <a:p>
            <a:pPr>
              <a:defRPr sz="1100"/>
            </a:pPr>
            <a:r>
              <a:t>• Domain: Cooking</a:t>
            </a:r>
          </a:p>
          <a:p>
            <a:pPr>
              <a:defRPr sz="1100"/>
            </a:pPr>
            <a:r>
              <a:t>• Steps: 8</a:t>
            </a:r>
          </a:p>
          <a:p>
            <a:pPr>
              <a:defRPr sz="1100"/>
            </a:pPr>
            <a:r>
              <a:t>• Base Failure Cost: 12.0</a:t>
            </a:r>
          </a:p>
          <a:p>
            <a:pPr>
              <a:defRPr sz="1100"/>
            </a:pPr>
            <a:r>
              <a:t>• Interruption Cost: 5.0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9456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4472C4"/>
                </a:solidFill>
              </a:defRPr>
            </a:pPr>
            <a:r>
              <a:t>Cost Regime</a:t>
            </a:r>
          </a:p>
          <a:p>
            <a:pPr>
              <a:defRPr sz="1100"/>
            </a:pPr>
            <a:r>
              <a:t>• Interruption Cost: 5.0</a:t>
            </a:r>
          </a:p>
          <a:p>
            <a:pPr>
              <a:defRPr sz="1100"/>
            </a:pPr>
            <a:r>
              <a:t>• Failure Cost: 10.0</a:t>
            </a:r>
          </a:p>
          <a:p>
            <a:pPr>
              <a:defRPr sz="1100"/>
            </a:pPr>
            <a:r>
              <a:t>• Ratio: 2.0 (Casual task - low stakes)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108960"/>
            <a:ext cx="4114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4472C4"/>
                </a:solidFill>
              </a:defRPr>
            </a:pPr>
            <a:r>
              <a:t>Step-by-Step Failure Costs</a:t>
            </a:r>
          </a:p>
          <a:p>
            <a:pPr>
              <a:defRPr sz="1100" b="1"/>
            </a:pPr>
            <a:r>
              <a:t>Critical Steps (Top 8):</a:t>
            </a:r>
          </a:p>
          <a:p>
            <a:pPr>
              <a:defRPr sz="1000">
                <a:solidFill>
                  <a:srgbClr val="FF8C00"/>
                </a:solidFill>
              </a:defRPr>
            </a:pPr>
            <a:r>
              <a:t>  6. brew_coffee: 21.6 (×1.8)</a:t>
            </a:r>
          </a:p>
          <a:p>
            <a:pPr>
              <a:defRPr sz="1000"/>
            </a:pPr>
            <a:r>
              <a:t>  4. insert_pod: 15.6 (×1.3)</a:t>
            </a:r>
          </a:p>
          <a:p>
            <a:pPr>
              <a:defRPr sz="1000"/>
            </a:pPr>
            <a:r>
              <a:t>  3. add_water: 14.4 (×1.2)</a:t>
            </a:r>
          </a:p>
          <a:p>
            <a:pPr>
              <a:defRPr sz="1000"/>
            </a:pPr>
            <a:r>
              <a:t>  5. place_mug: 14.4 (×1.2)</a:t>
            </a:r>
          </a:p>
          <a:p>
            <a:pPr>
              <a:defRPr sz="1000"/>
            </a:pPr>
            <a:r>
              <a:t>  7. remove_pod: 13.2 (×1.1)</a:t>
            </a:r>
          </a:p>
          <a:p>
            <a:pPr>
              <a:defRPr sz="1000"/>
            </a:pPr>
            <a:r>
              <a:t>  1. get_mug: 12.0 (×1.0)</a:t>
            </a:r>
          </a:p>
          <a:p>
            <a:pPr>
              <a:defRPr sz="1000"/>
            </a:pPr>
            <a:r>
              <a:t>  2. get_coffee_pod: 12.0 (×1.0)</a:t>
            </a:r>
          </a:p>
          <a:p>
            <a:pPr>
              <a:defRPr sz="1000"/>
            </a:pPr>
            <a:r>
              <a:t>  8. serve_coffee: 12.0 (×1.0)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005840"/>
            <a:ext cx="4114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4472C4"/>
                </a:solidFill>
              </a:defRPr>
            </a:pPr>
            <a:r>
              <a:t>Performance Comparison</a:t>
            </a:r>
          </a:p>
          <a:p>
            <a:pPr>
              <a:defRPr sz="1000" b="1"/>
            </a:pPr>
            <a:r>
              <a:t>Policy          Reward     Fails    Ints    </a:t>
            </a:r>
          </a:p>
          <a:p>
            <a:pPr>
              <a:defRPr sz="1000"/>
            </a:pPr>
            <a:r>
              <a:t>Random          -206.0     3.56     21.09   </a:t>
            </a:r>
          </a:p>
          <a:p>
            <a:pPr>
              <a:defRPr sz="1000"/>
            </a:pPr>
            <a:r>
              <a:t>Proactive       -190.9     1.42     28.59   </a:t>
            </a:r>
          </a:p>
          <a:p>
            <a:pPr>
              <a:defRPr sz="1000"/>
            </a:pPr>
            <a:r>
              <a:t>Reactive        -190.8     1.11     30.34   </a:t>
            </a:r>
          </a:p>
          <a:p>
            <a:pPr>
              <a:defRPr sz="1000" b="1">
                <a:solidFill>
                  <a:srgbClr val="008000"/>
                </a:solidFill>
              </a:defRPr>
            </a:pPr>
            <a:r>
              <a:t>RL_PPO          -143.7     4.76     0.00   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3383280"/>
            <a:ext cx="4114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4472C4"/>
                </a:solidFill>
              </a:defRPr>
            </a:pPr>
            <a:r>
              <a:t>RL Performance</a:t>
            </a:r>
          </a:p>
          <a:p>
            <a:pPr>
              <a:defRPr sz="1100"/>
            </a:pPr>
            <a:r>
              <a:t>• Improvement over Best Baseline: +24.68%</a:t>
            </a:r>
          </a:p>
          <a:p>
            <a:pPr>
              <a:defRPr sz="1100"/>
            </a:pPr>
            <a:r>
              <a:t>• Best Baseline: Reactive</a:t>
            </a:r>
          </a:p>
          <a:p>
            <a:pPr>
              <a:defRPr sz="1100">
                <a:solidFill>
                  <a:srgbClr val="008000"/>
                </a:solidFill>
              </a:defRPr>
            </a:pPr>
            <a:r>
              <a:t>• Status: ✓ Success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4572000"/>
            <a:ext cx="4114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4472C4"/>
                </a:solidFill>
              </a:defRPr>
            </a:pPr>
            <a:r>
              <a:t>Intervention Patterns</a:t>
            </a:r>
          </a:p>
          <a:p>
            <a:pPr>
              <a:defRPr sz="1100"/>
            </a:pPr>
            <a:r>
              <a:t>• Mean Interruptions: 0.00</a:t>
            </a:r>
          </a:p>
          <a:p>
            <a:pPr>
              <a:defRPr sz="1100"/>
            </a:pPr>
            <a:r>
              <a:t>• Intervention Rate: 0.0% of steps</a:t>
            </a:r>
          </a:p>
          <a:p>
            <a:pPr>
              <a:defRPr sz="1100"/>
            </a:pPr>
            <a:r>
              <a:t>• Mean Failures: 4.76</a:t>
            </a:r>
          </a:p>
          <a:p>
            <a:pPr>
              <a:defRPr sz="1100"/>
            </a:pPr>
            <a:r>
              <a:t>• Strategy: Strategic Silence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4472C4"/>
                </a:solidFill>
              </a:defRPr>
            </a:pPr>
            <a:r>
              <a:t>Make Tea - Moderate 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4114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4472C4"/>
                </a:solidFill>
              </a:defRPr>
            </a:pPr>
            <a:r>
              <a:t>Task Overview</a:t>
            </a:r>
          </a:p>
          <a:p>
            <a:pPr>
              <a:defRPr sz="1100"/>
            </a:pPr>
            <a:r>
              <a:t>• Domain: Cooking</a:t>
            </a:r>
          </a:p>
          <a:p>
            <a:pPr>
              <a:defRPr sz="1100"/>
            </a:pPr>
            <a:r>
              <a:t>• Steps: 9</a:t>
            </a:r>
          </a:p>
          <a:p>
            <a:pPr>
              <a:defRPr sz="1100"/>
            </a:pPr>
            <a:r>
              <a:t>• Base Failure Cost: 12.0</a:t>
            </a:r>
          </a:p>
          <a:p>
            <a:pPr>
              <a:defRPr sz="1100"/>
            </a:pPr>
            <a:r>
              <a:t>• Interruption Cost: 5.0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9456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4472C4"/>
                </a:solidFill>
              </a:defRPr>
            </a:pPr>
            <a:r>
              <a:t>Cost Regime</a:t>
            </a:r>
          </a:p>
          <a:p>
            <a:pPr>
              <a:defRPr sz="1100"/>
            </a:pPr>
            <a:r>
              <a:t>• Interruption Cost: 5.0</a:t>
            </a:r>
          </a:p>
          <a:p>
            <a:pPr>
              <a:defRPr sz="1100"/>
            </a:pPr>
            <a:r>
              <a:t>• Failure Cost: 10.0</a:t>
            </a:r>
          </a:p>
          <a:p>
            <a:pPr>
              <a:defRPr sz="1100"/>
            </a:pPr>
            <a:r>
              <a:t>• Ratio: 2.0 (Casual task - low stakes)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108960"/>
            <a:ext cx="4114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4472C4"/>
                </a:solidFill>
              </a:defRPr>
            </a:pPr>
            <a:r>
              <a:t>Step-by-Step Failure Costs</a:t>
            </a:r>
          </a:p>
          <a:p>
            <a:pPr>
              <a:defRPr sz="1100" b="1"/>
            </a:pPr>
            <a:r>
              <a:t>Critical Steps (Top 8):</a:t>
            </a:r>
          </a:p>
          <a:p>
            <a:pPr>
              <a:defRPr sz="1000">
                <a:solidFill>
                  <a:srgbClr val="FF8C00"/>
                </a:solidFill>
              </a:defRPr>
            </a:pPr>
            <a:r>
              <a:t>  6. pour_water: 21.6 (×1.8)</a:t>
            </a:r>
          </a:p>
          <a:p>
            <a:pPr>
              <a:defRPr sz="1000">
                <a:solidFill>
                  <a:srgbClr val="FF8C00"/>
                </a:solidFill>
              </a:defRPr>
            </a:pPr>
            <a:r>
              <a:t>  4. heat_water: 18.0 (×1.5)</a:t>
            </a:r>
          </a:p>
          <a:p>
            <a:pPr>
              <a:defRPr sz="1000"/>
            </a:pPr>
            <a:r>
              <a:t>  7. steep_tea: 14.4 (×1.2)</a:t>
            </a:r>
          </a:p>
          <a:p>
            <a:pPr>
              <a:defRPr sz="1000"/>
            </a:pPr>
            <a:r>
              <a:t>  3. fill_kettle: 13.2 (×1.1)</a:t>
            </a:r>
          </a:p>
          <a:p>
            <a:pPr>
              <a:defRPr sz="1000"/>
            </a:pPr>
            <a:r>
              <a:t>  8. remove_tea_bag: 13.2 (×1.1)</a:t>
            </a:r>
          </a:p>
          <a:p>
            <a:pPr>
              <a:defRPr sz="1000"/>
            </a:pPr>
            <a:r>
              <a:t>  1. get_mug: 12.0 (×1.0)</a:t>
            </a:r>
          </a:p>
          <a:p>
            <a:pPr>
              <a:defRPr sz="1000"/>
            </a:pPr>
            <a:r>
              <a:t>  2. get_tea_bag: 12.0 (×1.0)</a:t>
            </a:r>
          </a:p>
          <a:p>
            <a:pPr>
              <a:defRPr sz="1000"/>
            </a:pPr>
            <a:r>
              <a:t>  5. place_tea_bag: 12.0 (×1.0)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005840"/>
            <a:ext cx="4114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4472C4"/>
                </a:solidFill>
              </a:defRPr>
            </a:pPr>
            <a:r>
              <a:t>Performance Comparison</a:t>
            </a:r>
          </a:p>
          <a:p>
            <a:pPr>
              <a:defRPr sz="1000" b="1"/>
            </a:pPr>
            <a:r>
              <a:t>Policy          Reward     Fails    Ints    </a:t>
            </a:r>
          </a:p>
          <a:p>
            <a:pPr>
              <a:defRPr sz="1000"/>
            </a:pPr>
            <a:r>
              <a:t>Random          -233.9     4.53     23.00   </a:t>
            </a:r>
          </a:p>
          <a:p>
            <a:pPr>
              <a:defRPr sz="1000"/>
            </a:pPr>
            <a:r>
              <a:t>Proactive       -217.9     1.49     33.31   </a:t>
            </a:r>
          </a:p>
          <a:p>
            <a:pPr>
              <a:defRPr sz="1000"/>
            </a:pPr>
            <a:r>
              <a:t>Reactive        -222.0     1.30     35.27   </a:t>
            </a:r>
          </a:p>
          <a:p>
            <a:pPr>
              <a:defRPr sz="1000" b="1">
                <a:solidFill>
                  <a:srgbClr val="008000"/>
                </a:solidFill>
              </a:defRPr>
            </a:pPr>
            <a:r>
              <a:t>RL_PPO          -156.2     5.48     0.00   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3383280"/>
            <a:ext cx="4114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4472C4"/>
                </a:solidFill>
              </a:defRPr>
            </a:pPr>
            <a:r>
              <a:t>RL Performance</a:t>
            </a:r>
          </a:p>
          <a:p>
            <a:pPr>
              <a:defRPr sz="1100"/>
            </a:pPr>
            <a:r>
              <a:t>• Improvement over Best Baseline: +28.31%</a:t>
            </a:r>
          </a:p>
          <a:p>
            <a:pPr>
              <a:defRPr sz="1100"/>
            </a:pPr>
            <a:r>
              <a:t>• Best Baseline: Proactive</a:t>
            </a:r>
          </a:p>
          <a:p>
            <a:pPr>
              <a:defRPr sz="1100">
                <a:solidFill>
                  <a:srgbClr val="008000"/>
                </a:solidFill>
              </a:defRPr>
            </a:pPr>
            <a:r>
              <a:t>• Status: ✓ Success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4572000"/>
            <a:ext cx="4114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4472C4"/>
                </a:solidFill>
              </a:defRPr>
            </a:pPr>
            <a:r>
              <a:t>Intervention Patterns</a:t>
            </a:r>
          </a:p>
          <a:p>
            <a:pPr>
              <a:defRPr sz="1100"/>
            </a:pPr>
            <a:r>
              <a:t>• Mean Interruptions: 0.00</a:t>
            </a:r>
          </a:p>
          <a:p>
            <a:pPr>
              <a:defRPr sz="1100"/>
            </a:pPr>
            <a:r>
              <a:t>• Intervention Rate: 0.0% of steps</a:t>
            </a:r>
          </a:p>
          <a:p>
            <a:pPr>
              <a:defRPr sz="1100"/>
            </a:pPr>
            <a:r>
              <a:t>• Mean Failures: 5.48</a:t>
            </a:r>
          </a:p>
          <a:p>
            <a:pPr>
              <a:defRPr sz="1100"/>
            </a:pPr>
            <a:r>
              <a:t>• Strategy: Strategic Silence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4472C4"/>
                </a:solidFill>
              </a:defRPr>
            </a:pPr>
            <a:r>
              <a:t>Make Sandwich - Moderate 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4114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4472C4"/>
                </a:solidFill>
              </a:defRPr>
            </a:pPr>
            <a:r>
              <a:t>Task Overview</a:t>
            </a:r>
          </a:p>
          <a:p>
            <a:pPr>
              <a:defRPr sz="1100"/>
            </a:pPr>
            <a:r>
              <a:t>• Domain: Cooking</a:t>
            </a:r>
          </a:p>
          <a:p>
            <a:pPr>
              <a:defRPr sz="1100"/>
            </a:pPr>
            <a:r>
              <a:t>• Steps: 9</a:t>
            </a:r>
          </a:p>
          <a:p>
            <a:pPr>
              <a:defRPr sz="1100"/>
            </a:pPr>
            <a:r>
              <a:t>• Base Failure Cost: 15.0</a:t>
            </a:r>
          </a:p>
          <a:p>
            <a:pPr>
              <a:defRPr sz="1100"/>
            </a:pPr>
            <a:r>
              <a:t>• Interruption Cost: 5.0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9456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4472C4"/>
                </a:solidFill>
              </a:defRPr>
            </a:pPr>
            <a:r>
              <a:t>Cost Regime</a:t>
            </a:r>
          </a:p>
          <a:p>
            <a:pPr>
              <a:defRPr sz="1100"/>
            </a:pPr>
            <a:r>
              <a:t>• Interruption Cost: 5.0</a:t>
            </a:r>
          </a:p>
          <a:p>
            <a:pPr>
              <a:defRPr sz="1100"/>
            </a:pPr>
            <a:r>
              <a:t>• Failure Cost: 10.0</a:t>
            </a:r>
          </a:p>
          <a:p>
            <a:pPr>
              <a:defRPr sz="1100"/>
            </a:pPr>
            <a:r>
              <a:t>• Ratio: 2.0 (Casual task - low stakes)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108960"/>
            <a:ext cx="4114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4472C4"/>
                </a:solidFill>
              </a:defRPr>
            </a:pPr>
            <a:r>
              <a:t>Step-by-Step Failure Costs</a:t>
            </a:r>
          </a:p>
          <a:p>
            <a:pPr>
              <a:defRPr sz="1100" b="1"/>
            </a:pPr>
            <a:r>
              <a:t>Critical Steps (Top 8):</a:t>
            </a:r>
          </a:p>
          <a:p>
            <a:pPr>
              <a:defRPr sz="1000">
                <a:solidFill>
                  <a:srgbClr val="FF8C00"/>
                </a:solidFill>
              </a:defRPr>
            </a:pPr>
            <a:r>
              <a:t>  8. prepare_sandwich: 22.5 (×1.5)</a:t>
            </a:r>
          </a:p>
          <a:p>
            <a:pPr>
              <a:defRPr sz="1000"/>
            </a:pPr>
            <a:r>
              <a:t>  7. add_fillings: 19.5 (×1.3)</a:t>
            </a:r>
          </a:p>
          <a:p>
            <a:pPr>
              <a:defRPr sz="1000"/>
            </a:pPr>
            <a:r>
              <a:t>  6. spread_condiments: 18.0 (×1.2)</a:t>
            </a:r>
          </a:p>
          <a:p>
            <a:pPr>
              <a:defRPr sz="1000"/>
            </a:pPr>
            <a:r>
              <a:t>  5. prepare_bread: 16.5 (×1.1)</a:t>
            </a:r>
          </a:p>
          <a:p>
            <a:pPr>
              <a:defRPr sz="1000"/>
            </a:pPr>
            <a:r>
              <a:t>  1. get_ingredients: 15.0 (×1.0)</a:t>
            </a:r>
          </a:p>
          <a:p>
            <a:pPr>
              <a:defRPr sz="1000"/>
            </a:pPr>
            <a:r>
              <a:t>  2. get_plate: 15.0 (×1.0)</a:t>
            </a:r>
          </a:p>
          <a:p>
            <a:pPr>
              <a:defRPr sz="1000"/>
            </a:pPr>
            <a:r>
              <a:t>  3. get_knife: 15.0 (×1.0)</a:t>
            </a:r>
          </a:p>
          <a:p>
            <a:pPr>
              <a:defRPr sz="1000"/>
            </a:pPr>
            <a:r>
              <a:t>  4. arrange_workspace: 15.0 (×1.0)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005840"/>
            <a:ext cx="4114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4472C4"/>
                </a:solidFill>
              </a:defRPr>
            </a:pPr>
            <a:r>
              <a:t>Performance Comparison</a:t>
            </a:r>
          </a:p>
          <a:p>
            <a:pPr>
              <a:defRPr sz="1000" b="1"/>
            </a:pPr>
            <a:r>
              <a:t>Policy          Reward     Fails    Ints    </a:t>
            </a:r>
          </a:p>
          <a:p>
            <a:pPr>
              <a:defRPr sz="1000"/>
            </a:pPr>
            <a:r>
              <a:t>Random          -246.9     4.53     23.00   </a:t>
            </a:r>
          </a:p>
          <a:p>
            <a:pPr>
              <a:defRPr sz="1000"/>
            </a:pPr>
            <a:r>
              <a:t>Proactive       -224.4     1.49     33.31   </a:t>
            </a:r>
          </a:p>
          <a:p>
            <a:pPr>
              <a:defRPr sz="1000"/>
            </a:pPr>
            <a:r>
              <a:t>Reactive        -226.5     1.30     35.27   </a:t>
            </a:r>
          </a:p>
          <a:p>
            <a:pPr>
              <a:defRPr sz="1000" b="1">
                <a:solidFill>
                  <a:srgbClr val="008000"/>
                </a:solidFill>
              </a:defRPr>
            </a:pPr>
            <a:r>
              <a:t>RL_PPO          -171.3     5.48     0.00   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3383280"/>
            <a:ext cx="4114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4472C4"/>
                </a:solidFill>
              </a:defRPr>
            </a:pPr>
            <a:r>
              <a:t>RL Performance</a:t>
            </a:r>
          </a:p>
          <a:p>
            <a:pPr>
              <a:defRPr sz="1100"/>
            </a:pPr>
            <a:r>
              <a:t>• Improvement over Best Baseline: +23.66%</a:t>
            </a:r>
          </a:p>
          <a:p>
            <a:pPr>
              <a:defRPr sz="1100"/>
            </a:pPr>
            <a:r>
              <a:t>• Best Baseline: Proactive</a:t>
            </a:r>
          </a:p>
          <a:p>
            <a:pPr>
              <a:defRPr sz="1100">
                <a:solidFill>
                  <a:srgbClr val="008000"/>
                </a:solidFill>
              </a:defRPr>
            </a:pPr>
            <a:r>
              <a:t>• Status: ✓ Success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4572000"/>
            <a:ext cx="4114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4472C4"/>
                </a:solidFill>
              </a:defRPr>
            </a:pPr>
            <a:r>
              <a:t>Intervention Patterns</a:t>
            </a:r>
          </a:p>
          <a:p>
            <a:pPr>
              <a:defRPr sz="1100"/>
            </a:pPr>
            <a:r>
              <a:t>• Mean Interruptions: 0.00</a:t>
            </a:r>
          </a:p>
          <a:p>
            <a:pPr>
              <a:defRPr sz="1100"/>
            </a:pPr>
            <a:r>
              <a:t>• Intervention Rate: 0.0% of steps</a:t>
            </a:r>
          </a:p>
          <a:p>
            <a:pPr>
              <a:defRPr sz="1100"/>
            </a:pPr>
            <a:r>
              <a:t>• Mean Failures: 5.48</a:t>
            </a:r>
          </a:p>
          <a:p>
            <a:pPr>
              <a:defRPr sz="1100"/>
            </a:pPr>
            <a:r>
              <a:t>• Strategy: Strategic Silence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4472C4"/>
                </a:solidFill>
              </a:defRPr>
            </a:pPr>
            <a:r>
              <a:t>Cooking - Moderate 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4114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4472C4"/>
                </a:solidFill>
              </a:defRPr>
            </a:pPr>
            <a:r>
              <a:t>Task Overview</a:t>
            </a:r>
          </a:p>
          <a:p>
            <a:pPr>
              <a:defRPr sz="1100"/>
            </a:pPr>
            <a:r>
              <a:t>• Domain: Cooking</a:t>
            </a:r>
          </a:p>
          <a:p>
            <a:pPr>
              <a:defRPr sz="1100"/>
            </a:pPr>
            <a:r>
              <a:t>• Steps: 14</a:t>
            </a:r>
          </a:p>
          <a:p>
            <a:pPr>
              <a:defRPr sz="1100"/>
            </a:pPr>
            <a:r>
              <a:t>• Base Failure Cost: 20.0</a:t>
            </a:r>
          </a:p>
          <a:p>
            <a:pPr>
              <a:defRPr sz="1100"/>
            </a:pPr>
            <a:r>
              <a:t>• Interruption Cost: 5.0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9456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4472C4"/>
                </a:solidFill>
              </a:defRPr>
            </a:pPr>
            <a:r>
              <a:t>Cost Regime</a:t>
            </a:r>
          </a:p>
          <a:p>
            <a:pPr>
              <a:defRPr sz="1100"/>
            </a:pPr>
            <a:r>
              <a:t>• Interruption Cost: 5.0</a:t>
            </a:r>
          </a:p>
          <a:p>
            <a:pPr>
              <a:defRPr sz="1100"/>
            </a:pPr>
            <a:r>
              <a:t>• Failure Cost: 10.0</a:t>
            </a:r>
          </a:p>
          <a:p>
            <a:pPr>
              <a:defRPr sz="1100"/>
            </a:pPr>
            <a:r>
              <a:t>• Ratio: 2.0 (Casual task - low stakes)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108960"/>
            <a:ext cx="4114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4472C4"/>
                </a:solidFill>
              </a:defRPr>
            </a:pPr>
            <a:r>
              <a:t>Step-by-Step Failure Costs</a:t>
            </a:r>
          </a:p>
          <a:p>
            <a:pPr>
              <a:defRPr sz="1100" b="1"/>
            </a:pPr>
            <a:r>
              <a:t>Critical Steps (Top 8):</a:t>
            </a:r>
          </a:p>
          <a:p>
            <a:pPr>
              <a:defRPr sz="1000">
                <a:solidFill>
                  <a:srgbClr val="C00000"/>
                </a:solidFill>
              </a:defRPr>
            </a:pPr>
            <a:r>
              <a:t>  10. cook_thoroughly: 40.0 (×2.0)</a:t>
            </a:r>
          </a:p>
          <a:p>
            <a:pPr>
              <a:defRPr sz="1000">
                <a:solidFill>
                  <a:srgbClr val="FF8C00"/>
                </a:solidFill>
              </a:defRPr>
            </a:pPr>
            <a:r>
              <a:t>  7. saute_ingredients: 36.0 (×1.8)</a:t>
            </a:r>
          </a:p>
          <a:p>
            <a:pPr>
              <a:defRPr sz="1000">
                <a:solidFill>
                  <a:srgbClr val="FF8C00"/>
                </a:solidFill>
              </a:defRPr>
            </a:pPr>
            <a:r>
              <a:t>  12. turn_off_stove: 32.0 (×1.6)</a:t>
            </a:r>
          </a:p>
          <a:p>
            <a:pPr>
              <a:defRPr sz="1000">
                <a:solidFill>
                  <a:srgbClr val="FF8C00"/>
                </a:solidFill>
              </a:defRPr>
            </a:pPr>
            <a:r>
              <a:t>  4. preheat_pan: 30.0 (×1.5)</a:t>
            </a:r>
          </a:p>
          <a:p>
            <a:pPr>
              <a:defRPr sz="1000">
                <a:solidFill>
                  <a:srgbClr val="FF8C00"/>
                </a:solidFill>
              </a:defRPr>
            </a:pPr>
            <a:r>
              <a:t>  9. add_remaining: 30.0 (×1.5)</a:t>
            </a:r>
          </a:p>
          <a:p>
            <a:pPr>
              <a:defRPr sz="1000"/>
            </a:pPr>
            <a:r>
              <a:t>  6. add_first_ingredients: 28.0 (×1.4)</a:t>
            </a:r>
          </a:p>
          <a:p>
            <a:pPr>
              <a:defRPr sz="1000"/>
            </a:pPr>
            <a:r>
              <a:t>  5. add_oil: 26.0 (×1.3)</a:t>
            </a:r>
          </a:p>
          <a:p>
            <a:pPr>
              <a:defRPr sz="1000"/>
            </a:pPr>
            <a:r>
              <a:t>  13. plate_food: 26.0 (×1.3)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005840"/>
            <a:ext cx="4114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4472C4"/>
                </a:solidFill>
              </a:defRPr>
            </a:pPr>
            <a:r>
              <a:t>Performance Comparison</a:t>
            </a:r>
          </a:p>
          <a:p>
            <a:pPr>
              <a:defRPr sz="1000" b="1"/>
            </a:pPr>
            <a:r>
              <a:t>Policy          Reward     Fails    Ints    </a:t>
            </a:r>
          </a:p>
          <a:p>
            <a:pPr>
              <a:defRPr sz="1000"/>
            </a:pPr>
            <a:r>
              <a:t>Random          -465.0     6.90     37.54   </a:t>
            </a:r>
          </a:p>
          <a:p>
            <a:pPr>
              <a:defRPr sz="1000"/>
            </a:pPr>
            <a:r>
              <a:t>Proactive       -376.4     1.95     52.90   </a:t>
            </a:r>
          </a:p>
          <a:p>
            <a:pPr>
              <a:defRPr sz="1000"/>
            </a:pPr>
            <a:r>
              <a:t>Reactive        -402.2     1.88     58.85   </a:t>
            </a:r>
          </a:p>
          <a:p>
            <a:pPr>
              <a:defRPr sz="1000" b="1">
                <a:solidFill>
                  <a:srgbClr val="008000"/>
                </a:solidFill>
              </a:defRPr>
            </a:pPr>
            <a:r>
              <a:t>RL_PPO          -358.7     8.42     1.78   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3383280"/>
            <a:ext cx="4114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4472C4"/>
                </a:solidFill>
              </a:defRPr>
            </a:pPr>
            <a:r>
              <a:t>RL Performance</a:t>
            </a:r>
          </a:p>
          <a:p>
            <a:pPr>
              <a:defRPr sz="1100"/>
            </a:pPr>
            <a:r>
              <a:t>• Improvement over Best Baseline: +4.70%</a:t>
            </a:r>
          </a:p>
          <a:p>
            <a:pPr>
              <a:defRPr sz="1100"/>
            </a:pPr>
            <a:r>
              <a:t>• Best Baseline: Proactive</a:t>
            </a:r>
          </a:p>
          <a:p>
            <a:pPr>
              <a:defRPr sz="1100">
                <a:solidFill>
                  <a:srgbClr val="008000"/>
                </a:solidFill>
              </a:defRPr>
            </a:pPr>
            <a:r>
              <a:t>• Status: ✓ Success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4572000"/>
            <a:ext cx="4114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4472C4"/>
                </a:solidFill>
              </a:defRPr>
            </a:pPr>
            <a:r>
              <a:t>Intervention Patterns</a:t>
            </a:r>
          </a:p>
          <a:p>
            <a:pPr>
              <a:defRPr sz="1100"/>
            </a:pPr>
            <a:r>
              <a:t>• Mean Interruptions: 1.78</a:t>
            </a:r>
          </a:p>
          <a:p>
            <a:pPr>
              <a:defRPr sz="1100"/>
            </a:pPr>
            <a:r>
              <a:t>• Intervention Rate: 12.7% of steps</a:t>
            </a:r>
          </a:p>
          <a:p>
            <a:pPr>
              <a:defRPr sz="1100"/>
            </a:pPr>
            <a:r>
              <a:t>• Mean Failures: 8.42</a:t>
            </a:r>
          </a:p>
          <a:p>
            <a:pPr>
              <a:defRPr sz="1100"/>
            </a:pPr>
            <a:r>
              <a:t>• Strategy: Strategic Silence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4472C4"/>
                </a:solidFill>
              </a:defRPr>
            </a:pPr>
            <a:r>
              <a:t>Make Stencil - Moderate 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4114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4472C4"/>
                </a:solidFill>
              </a:defRPr>
            </a:pPr>
            <a:r>
              <a:t>Task Overview</a:t>
            </a:r>
          </a:p>
          <a:p>
            <a:pPr>
              <a:defRPr sz="1100"/>
            </a:pPr>
            <a:r>
              <a:t>• Domain: Crafting</a:t>
            </a:r>
          </a:p>
          <a:p>
            <a:pPr>
              <a:defRPr sz="1100"/>
            </a:pPr>
            <a:r>
              <a:t>• Steps: 17</a:t>
            </a:r>
          </a:p>
          <a:p>
            <a:pPr>
              <a:defRPr sz="1100"/>
            </a:pPr>
            <a:r>
              <a:t>• Base Failure Cost: 30.0</a:t>
            </a:r>
          </a:p>
          <a:p>
            <a:pPr>
              <a:defRPr sz="1100"/>
            </a:pPr>
            <a:r>
              <a:t>• Interruption Cost: 5.0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9456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4472C4"/>
                </a:solidFill>
              </a:defRPr>
            </a:pPr>
            <a:r>
              <a:t>Cost Regime</a:t>
            </a:r>
          </a:p>
          <a:p>
            <a:pPr>
              <a:defRPr sz="1100"/>
            </a:pPr>
            <a:r>
              <a:t>• Interruption Cost: 5.0</a:t>
            </a:r>
          </a:p>
          <a:p>
            <a:pPr>
              <a:defRPr sz="1100"/>
            </a:pPr>
            <a:r>
              <a:t>• Failure Cost: 10.0</a:t>
            </a:r>
          </a:p>
          <a:p>
            <a:pPr>
              <a:defRPr sz="1100"/>
            </a:pPr>
            <a:r>
              <a:t>• Ratio: 2.0 (Casual task - low stakes)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108960"/>
            <a:ext cx="4114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4472C4"/>
                </a:solidFill>
              </a:defRPr>
            </a:pPr>
            <a:r>
              <a:t>Step-by-Step Failure Costs</a:t>
            </a:r>
          </a:p>
          <a:p>
            <a:pPr>
              <a:defRPr sz="1100" b="1"/>
            </a:pPr>
            <a:r>
              <a:t>Critical Steps (Top 8):</a:t>
            </a:r>
          </a:p>
          <a:p>
            <a:pPr>
              <a:defRPr sz="1000">
                <a:solidFill>
                  <a:srgbClr val="C00000"/>
                </a:solidFill>
              </a:defRPr>
            </a:pPr>
            <a:r>
              <a:t>  3. check_exhaust: 75.0 (×2.5)</a:t>
            </a:r>
          </a:p>
          <a:p>
            <a:pPr>
              <a:defRPr sz="1000">
                <a:solidFill>
                  <a:srgbClr val="C00000"/>
                </a:solidFill>
              </a:defRPr>
            </a:pPr>
            <a:r>
              <a:t>  10. monitor_cutting: 66.0 (×2.2)</a:t>
            </a:r>
          </a:p>
          <a:p>
            <a:pPr>
              <a:defRPr sz="1000">
                <a:solidFill>
                  <a:srgbClr val="C00000"/>
                </a:solidFill>
              </a:defRPr>
            </a:pPr>
            <a:r>
              <a:t>  9. start_cutting: 60.0 (×2.0)</a:t>
            </a:r>
          </a:p>
          <a:p>
            <a:pPr>
              <a:defRPr sz="1000">
                <a:solidFill>
                  <a:srgbClr val="FF8C00"/>
                </a:solidFill>
              </a:defRPr>
            </a:pPr>
            <a:r>
              <a:t>  6. focus_laser: 54.0 (×1.8)</a:t>
            </a:r>
          </a:p>
          <a:p>
            <a:pPr>
              <a:defRPr sz="1000">
                <a:solidFill>
                  <a:srgbClr val="FF8C00"/>
                </a:solidFill>
              </a:defRPr>
            </a:pPr>
            <a:r>
              <a:t>  7. set_parameters: 48.0 (×1.6)</a:t>
            </a:r>
          </a:p>
          <a:p>
            <a:pPr>
              <a:defRPr sz="1000">
                <a:solidFill>
                  <a:srgbClr val="FF8C00"/>
                </a:solidFill>
              </a:defRPr>
            </a:pPr>
            <a:r>
              <a:t>  16. apply_paint: 45.0 (×1.5)</a:t>
            </a:r>
          </a:p>
          <a:p>
            <a:pPr>
              <a:defRPr sz="1000"/>
            </a:pPr>
            <a:r>
              <a:t>  5. load_material: 42.0 (×1.4)</a:t>
            </a:r>
          </a:p>
          <a:p>
            <a:pPr>
              <a:defRPr sz="1000"/>
            </a:pPr>
            <a:r>
              <a:t>  15. secure_stencil: 42.0 (×1.4)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005840"/>
            <a:ext cx="4114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4472C4"/>
                </a:solidFill>
              </a:defRPr>
            </a:pPr>
            <a:r>
              <a:t>Performance Comparison</a:t>
            </a:r>
          </a:p>
          <a:p>
            <a:pPr>
              <a:defRPr sz="1000" b="1"/>
            </a:pPr>
            <a:r>
              <a:t>Policy          Reward     Fails    Ints    </a:t>
            </a:r>
          </a:p>
          <a:p>
            <a:pPr>
              <a:defRPr sz="1000"/>
            </a:pPr>
            <a:r>
              <a:t>Random          -736.5     9.06     45.25   </a:t>
            </a:r>
          </a:p>
          <a:p>
            <a:pPr>
              <a:defRPr sz="1000"/>
            </a:pPr>
            <a:r>
              <a:t>Proactive       -535.7     2.47     68.00   </a:t>
            </a:r>
          </a:p>
          <a:p>
            <a:pPr>
              <a:defRPr sz="1000"/>
            </a:pPr>
            <a:r>
              <a:t>Reactive        -528.6     2.34     70.25   </a:t>
            </a:r>
          </a:p>
          <a:p>
            <a:pPr>
              <a:defRPr sz="1000" b="1">
                <a:solidFill>
                  <a:srgbClr val="C00000"/>
                </a:solidFill>
              </a:defRPr>
            </a:pPr>
            <a:r>
              <a:t>RL_PPO          -605.5     10.05    0.00   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3383280"/>
            <a:ext cx="4114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4472C4"/>
                </a:solidFill>
              </a:defRPr>
            </a:pPr>
            <a:r>
              <a:t>RL Performance</a:t>
            </a:r>
          </a:p>
          <a:p>
            <a:pPr>
              <a:defRPr sz="1100"/>
            </a:pPr>
            <a:r>
              <a:t>• Improvement over Best Baseline: -14.53%</a:t>
            </a:r>
          </a:p>
          <a:p>
            <a:pPr>
              <a:defRPr sz="1100"/>
            </a:pPr>
            <a:r>
              <a:t>• Best Baseline: Reactive</a:t>
            </a:r>
          </a:p>
          <a:p>
            <a:pPr>
              <a:defRPr sz="1100">
                <a:solidFill>
                  <a:srgbClr val="C00000"/>
                </a:solidFill>
              </a:defRPr>
            </a:pPr>
            <a:r>
              <a:t>• Status: ✗ Failed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4572000"/>
            <a:ext cx="4114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4472C4"/>
                </a:solidFill>
              </a:defRPr>
            </a:pPr>
            <a:r>
              <a:t>Intervention Patterns</a:t>
            </a:r>
          </a:p>
          <a:p>
            <a:pPr>
              <a:defRPr sz="1100"/>
            </a:pPr>
            <a:r>
              <a:t>• Mean Interruptions: 0.00</a:t>
            </a:r>
          </a:p>
          <a:p>
            <a:pPr>
              <a:defRPr sz="1100"/>
            </a:pPr>
            <a:r>
              <a:t>• Intervention Rate: 0.0% of steps</a:t>
            </a:r>
          </a:p>
          <a:p>
            <a:pPr>
              <a:defRPr sz="1100"/>
            </a:pPr>
            <a:r>
              <a:t>• Mean Failures: 10.05</a:t>
            </a:r>
          </a:p>
          <a:p>
            <a:pPr>
              <a:defRPr sz="1100"/>
            </a:pPr>
            <a:r>
              <a:t>• Strategy: Strategic Silence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4472C4"/>
                </a:solidFill>
              </a:defRPr>
            </a:pPr>
            <a:r>
              <a:t>Latte Making - Moderate 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4114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4472C4"/>
                </a:solidFill>
              </a:defRPr>
            </a:pPr>
            <a:r>
              <a:t>Task Overview</a:t>
            </a:r>
          </a:p>
          <a:p>
            <a:pPr>
              <a:defRPr sz="1100"/>
            </a:pPr>
            <a:r>
              <a:t>• Domain: Technical</a:t>
            </a:r>
          </a:p>
          <a:p>
            <a:pPr>
              <a:defRPr sz="1100"/>
            </a:pPr>
            <a:r>
              <a:t>• Steps: 20</a:t>
            </a:r>
          </a:p>
          <a:p>
            <a:pPr>
              <a:defRPr sz="1100"/>
            </a:pPr>
            <a:r>
              <a:t>• Base Failure Cost: 25.0</a:t>
            </a:r>
          </a:p>
          <a:p>
            <a:pPr>
              <a:defRPr sz="1100"/>
            </a:pPr>
            <a:r>
              <a:t>• Interruption Cost: 5.0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9456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4472C4"/>
                </a:solidFill>
              </a:defRPr>
            </a:pPr>
            <a:r>
              <a:t>Cost Regime</a:t>
            </a:r>
          </a:p>
          <a:p>
            <a:pPr>
              <a:defRPr sz="1100"/>
            </a:pPr>
            <a:r>
              <a:t>• Interruption Cost: 5.0</a:t>
            </a:r>
          </a:p>
          <a:p>
            <a:pPr>
              <a:defRPr sz="1100"/>
            </a:pPr>
            <a:r>
              <a:t>• Failure Cost: 10.0</a:t>
            </a:r>
          </a:p>
          <a:p>
            <a:pPr>
              <a:defRPr sz="1100"/>
            </a:pPr>
            <a:r>
              <a:t>• Ratio: 2.0 (Casual task - low stakes)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108960"/>
            <a:ext cx="4114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4472C4"/>
                </a:solidFill>
              </a:defRPr>
            </a:pPr>
            <a:r>
              <a:t>Step-by-Step Failure Costs</a:t>
            </a:r>
          </a:p>
          <a:p>
            <a:pPr>
              <a:defRPr sz="1100" b="1"/>
            </a:pPr>
            <a:r>
              <a:t>Critical Steps (Top 8):</a:t>
            </a:r>
          </a:p>
          <a:p>
            <a:pPr>
              <a:defRPr sz="1000">
                <a:solidFill>
                  <a:srgbClr val="C00000"/>
                </a:solidFill>
              </a:defRPr>
            </a:pPr>
            <a:r>
              <a:t>  6. brew_coffee: 50.0 (×2.0)</a:t>
            </a:r>
          </a:p>
          <a:p>
            <a:pPr>
              <a:defRPr sz="1000">
                <a:solidFill>
                  <a:srgbClr val="C00000"/>
                </a:solidFill>
              </a:defRPr>
            </a:pPr>
            <a:r>
              <a:t>  10. steam_milk: 50.0 (×2.0)</a:t>
            </a:r>
          </a:p>
          <a:p>
            <a:pPr>
              <a:defRPr sz="1000">
                <a:solidFill>
                  <a:srgbClr val="FF8C00"/>
                </a:solidFill>
              </a:defRPr>
            </a:pPr>
            <a:r>
              <a:t>  11. texture_milk: 37.5 (×1.5)</a:t>
            </a:r>
          </a:p>
          <a:p>
            <a:pPr>
              <a:defRPr sz="1000">
                <a:solidFill>
                  <a:srgbClr val="FF8C00"/>
                </a:solidFill>
              </a:defRPr>
            </a:pPr>
            <a:r>
              <a:t>  18. clean_wand: 37.5 (×1.5)</a:t>
            </a:r>
          </a:p>
          <a:p>
            <a:pPr>
              <a:defRPr sz="1000"/>
            </a:pPr>
            <a:r>
              <a:t>  4. attach_portafilter: 35.0 (×1.4)</a:t>
            </a:r>
          </a:p>
          <a:p>
            <a:pPr>
              <a:defRPr sz="1000"/>
            </a:pPr>
            <a:r>
              <a:t>  14. pour_milk_slowly: 35.0 (×1.4)</a:t>
            </a:r>
          </a:p>
          <a:p>
            <a:pPr>
              <a:defRPr sz="1000"/>
            </a:pPr>
            <a:r>
              <a:t>  3. prepare_portafilter: 32.5 (×1.3)</a:t>
            </a:r>
          </a:p>
          <a:p>
            <a:pPr>
              <a:defRPr sz="1000"/>
            </a:pPr>
            <a:r>
              <a:t>  15. create_pattern: 32.5 (×1.3)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005840"/>
            <a:ext cx="4114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4472C4"/>
                </a:solidFill>
              </a:defRPr>
            </a:pPr>
            <a:r>
              <a:t>Performance Comparison</a:t>
            </a:r>
          </a:p>
          <a:p>
            <a:pPr>
              <a:defRPr sz="1000" b="1"/>
            </a:pPr>
            <a:r>
              <a:t>Policy          Reward     Fails    Ints    </a:t>
            </a:r>
          </a:p>
          <a:p>
            <a:pPr>
              <a:defRPr sz="1000"/>
            </a:pPr>
            <a:r>
              <a:t>Random          -731.2     10.50    53.09   </a:t>
            </a:r>
          </a:p>
          <a:p>
            <a:pPr>
              <a:defRPr sz="1000"/>
            </a:pPr>
            <a:r>
              <a:t>Proactive       -576.2     3.02     78.64   </a:t>
            </a:r>
          </a:p>
          <a:p>
            <a:pPr>
              <a:defRPr sz="1000"/>
            </a:pPr>
            <a:r>
              <a:t>Reactive        -582.9     2.70     83.55   </a:t>
            </a:r>
          </a:p>
          <a:p>
            <a:pPr>
              <a:defRPr sz="1000" b="1">
                <a:solidFill>
                  <a:srgbClr val="008000"/>
                </a:solidFill>
              </a:defRPr>
            </a:pPr>
            <a:r>
              <a:t>RL_PPO          -556.4     11.92    0.00   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3383280"/>
            <a:ext cx="4114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4472C4"/>
                </a:solidFill>
              </a:defRPr>
            </a:pPr>
            <a:r>
              <a:t>RL Performance</a:t>
            </a:r>
          </a:p>
          <a:p>
            <a:pPr>
              <a:defRPr sz="1100"/>
            </a:pPr>
            <a:r>
              <a:t>• Improvement over Best Baseline: +3.45%</a:t>
            </a:r>
          </a:p>
          <a:p>
            <a:pPr>
              <a:defRPr sz="1100"/>
            </a:pPr>
            <a:r>
              <a:t>• Best Baseline: Proactive</a:t>
            </a:r>
          </a:p>
          <a:p>
            <a:pPr>
              <a:defRPr sz="1100">
                <a:solidFill>
                  <a:srgbClr val="008000"/>
                </a:solidFill>
              </a:defRPr>
            </a:pPr>
            <a:r>
              <a:t>• Status: ✓ Success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4572000"/>
            <a:ext cx="4114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4472C4"/>
                </a:solidFill>
              </a:defRPr>
            </a:pPr>
            <a:r>
              <a:t>Intervention Patterns</a:t>
            </a:r>
          </a:p>
          <a:p>
            <a:pPr>
              <a:defRPr sz="1100"/>
            </a:pPr>
            <a:r>
              <a:t>• Mean Interruptions: 0.00</a:t>
            </a:r>
          </a:p>
          <a:p>
            <a:pPr>
              <a:defRPr sz="1100"/>
            </a:pPr>
            <a:r>
              <a:t>• Intervention Rate: 0.0% of steps</a:t>
            </a:r>
          </a:p>
          <a:p>
            <a:pPr>
              <a:defRPr sz="1100"/>
            </a:pPr>
            <a:r>
              <a:t>• Mean Failures: 11.92</a:t>
            </a:r>
          </a:p>
          <a:p>
            <a:pPr>
              <a:defRPr sz="1100"/>
            </a:pPr>
            <a:r>
              <a:t>• Strategy: Strategic Silence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4472C4"/>
                </a:solidFill>
              </a:defRPr>
            </a:pPr>
            <a:r>
              <a:t>Key Insights: NEW MODEL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680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4472C4"/>
                </a:solidFill>
              </a:defRPr>
            </a:pPr>
            <a:r>
              <a:t>Key Findings</a:t>
            </a:r>
          </a:p>
          <a:p>
            <a:pPr>
              <a:defRPr sz="1400" b="1"/>
            </a:pPr>
            <a:r>
              <a:t>1. Overall Performance: 13.92% mean improvement, 85.7% success rate</a:t>
            </a:r>
          </a:p>
          <a:p>
            <a:pPr>
              <a:defRPr sz="1400" b="1"/>
            </a:pPr>
            <a:r>
              <a:t>2. Timing Learning Complexity:</a:t>
            </a:r>
          </a:p>
          <a:p>
            <a:pPr>
              <a:defRPr sz="1100" b="0"/>
            </a:pPr>
            <a:r>
              <a:t>   • NEW MODEL requires learning WHEN to remind (continuous timing)</a:t>
            </a:r>
          </a:p>
          <a:p>
            <a:pPr>
              <a:defRPr sz="1100" b="0"/>
            </a:pPr>
            <a:r>
              <a:t>   • OLD MODEL only required learning IF to remind (binary decision)</a:t>
            </a:r>
          </a:p>
          <a:p>
            <a:pPr>
              <a:defRPr sz="1100" b="0"/>
            </a:pPr>
            <a:r>
              <a:t>   • 50k timesteps sufficient for simple tasks (8-9 steps)</a:t>
            </a:r>
          </a:p>
          <a:p>
            <a:pPr>
              <a:defRPr sz="1100" b="0"/>
            </a:pPr>
            <a:r>
              <a:t>   • Insufficient for complex tasks (17+ steps, safety-critical)</a:t>
            </a:r>
          </a:p>
          <a:p>
            <a:pPr>
              <a:defRPr sz="1400" b="1"/>
            </a:pPr>
            <a:r>
              <a:t>3. Task Complexity Effects:</a:t>
            </a:r>
          </a:p>
          <a:p>
            <a:pPr>
              <a:defRPr sz="1100" b="0">
                <a:solidFill>
                  <a:srgbClr val="008000"/>
                </a:solidFill>
              </a:defRPr>
            </a:pPr>
            <a:r>
              <a:t>   • Simple tasks (make_cereal, make_coffee): Success ✓</a:t>
            </a:r>
          </a:p>
          <a:p>
            <a:pPr>
              <a:defRPr sz="1100" b="0">
                <a:solidFill>
                  <a:srgbClr val="C00000"/>
                </a:solidFill>
              </a:defRPr>
            </a:pPr>
            <a:r>
              <a:t>   • Complex tasks (make_stencil): Failed in all regimes ✗</a:t>
            </a:r>
          </a:p>
          <a:p>
            <a:pPr>
              <a:defRPr sz="1100" b="0"/>
            </a:pPr>
            <a:r>
              <a:t>   • Timing discovery difficulty scales with task complexity</a:t>
            </a:r>
          </a:p>
          <a:p>
            <a:pPr>
              <a:defRPr sz="1400" b="1"/>
            </a:pPr>
            <a:r>
              <a:t>4. Realism vs. Learnability Tradeoff:</a:t>
            </a:r>
          </a:p>
          <a:p>
            <a:pPr>
              <a:defRPr sz="1100" b="0"/>
            </a:pPr>
            <a:r>
              <a:t>   • 90-100% reminder effectiveness is realistic</a:t>
            </a:r>
          </a:p>
          <a:p>
            <a:pPr>
              <a:defRPr sz="1100" b="0"/>
            </a:pPr>
            <a:r>
              <a:t>   • But creates harder learning problem for RL</a:t>
            </a:r>
          </a:p>
          <a:p>
            <a:pPr>
              <a:defRPr sz="1100" b="0"/>
            </a:pPr>
            <a:r>
              <a:t>   • Need specialized training approaches:</a:t>
            </a:r>
          </a:p>
          <a:p>
            <a:pPr>
              <a:defRPr sz="1100" b="0"/>
            </a:pPr>
            <a:r>
              <a:t>     - Longer training (200k timesteps)</a:t>
            </a:r>
          </a:p>
          <a:p>
            <a:pPr>
              <a:defRPr sz="1100" b="0"/>
            </a:pPr>
            <a:r>
              <a:t>     - Curriculum learning (flat → timing-dependent)</a:t>
            </a:r>
          </a:p>
          <a:p>
            <a:pPr>
              <a:defRPr sz="1100" b="0"/>
            </a:pPr>
            <a:r>
              <a:t>     - Slower recency decay (wider effectiveness window)</a:t>
            </a:r>
          </a:p>
          <a:p>
            <a:pPr>
              <a:defRPr sz="1400" b="1"/>
            </a:pPr>
            <a:r>
              <a:t>5. Strategic Silence Still Emerges:</a:t>
            </a:r>
          </a:p>
          <a:p>
            <a:pPr>
              <a:defRPr sz="1100" b="0"/>
            </a:pPr>
            <a:r>
              <a:t>   • High baseline failure rate (f0=0.6) creates difficulty</a:t>
            </a:r>
          </a:p>
          <a:p>
            <a:pPr>
              <a:defRPr sz="1100" b="0"/>
            </a:pPr>
            <a:r>
              <a:t>   • Even with strong reminders, interruption costs matter</a:t>
            </a:r>
          </a:p>
          <a:p>
            <a:pPr>
              <a:defRPr sz="1100" b="0"/>
            </a:pPr>
            <a:r>
              <a:t>   • Context-dependent strategies discovered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