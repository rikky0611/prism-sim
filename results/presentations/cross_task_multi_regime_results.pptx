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/>
            </a:pPr>
            <a:r>
              <a:t>Mean Improvement by Regime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Improvement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Extremely High
(c_fail=50)</c:v>
                </c:pt>
                <c:pt idx="1">
                  <c:v>Moderate
(c_fail=15)</c:v>
                </c:pt>
                <c:pt idx="2">
                  <c:v>Extremely Low
(c_fail=5)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6.776455220642007</c:v>
                </c:pt>
                <c:pt idx="1">
                  <c:v>10.353735632952114</c:v>
                </c:pt>
                <c:pt idx="2">
                  <c:v>7.260827523672299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Performance by Intervention Strategy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Improvement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Silent
(0-5)
10 models</c:v>
                </c:pt>
                <c:pt idx="1">
                  <c:v>Sparse
(5-15)
5 models</c:v>
                </c:pt>
                <c:pt idx="2">
                  <c:v>Moderate
(15-30)
0 models</c:v>
                </c:pt>
                <c:pt idx="3">
                  <c:v>Excessive
(30+)
6 models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26.20906984651902</c:v>
                </c:pt>
                <c:pt idx="1">
                  <c:v>21.802878643674713</c:v>
                </c:pt>
                <c:pt idx="2">
                  <c:v>0</c:v>
                </c:pt>
                <c:pt idx="3">
                  <c:v>-33.39466050711646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0080"/>
                </a:solidFill>
              </a:defRPr>
            </a:pPr>
            <a:r>
              <a:t>Cross-Task Multi-Regime RL Training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Learning Context-Dependent Procedure Assistant Policies</a:t>
            </a:r>
          </a:p>
          <a:p>
            <a:r>
              <a:t>7 Tasks × 3 Cost Regimes = 21 Trained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80"/>
                </a:solidFill>
              </a:defRPr>
            </a:pPr>
            <a:r>
              <a:t>Configuration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• Tasks: 7 (make_cereal, make_coffee, make_tea, make_sandwich, make_stencil, cooking, latte_making)</a:t>
            </a:r>
          </a:p>
          <a:p>
            <a:pPr>
              <a:spcAft>
                <a:spcPts val="600"/>
              </a:spcAft>
              <a:defRPr sz="1600"/>
            </a:pPr>
            <a:r>
              <a:t>• Cost Regimes: 3 (extremely_high, moderate, extremely_low)</a:t>
            </a:r>
          </a:p>
          <a:p>
            <a:pPr>
              <a:spcAft>
                <a:spcPts val="600"/>
              </a:spcAft>
              <a:defRPr sz="1600"/>
            </a:pPr>
            <a:r>
              <a:t>• Total Models Trained: 21</a:t>
            </a:r>
          </a:p>
          <a:p>
            <a:pPr>
              <a:spcAft>
                <a:spcPts val="600"/>
              </a:spcAft>
              <a:defRPr sz="1600"/>
            </a:pPr>
            <a:r>
              <a:t>• Training Duration: 200,000 timesteps per model</a:t>
            </a:r>
          </a:p>
          <a:p>
            <a:pPr>
              <a:spcAft>
                <a:spcPts val="600"/>
              </a:spcAft>
              <a:defRPr sz="1600"/>
            </a:pPr>
            <a:r>
              <a:t>• Baseline Failure Rate: 60% (f0_base=0.6, lambda_forget=0.05)</a:t>
            </a:r>
          </a:p>
          <a:p>
            <a:pPr>
              <a:spcAft>
                <a:spcPts val="600"/>
              </a:spcAft>
              <a:defRPr sz="1600"/>
            </a:pPr>
            <a:r>
              <a:t>• Action Space: Sparse (2-4 critical steps per task)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defRPr sz="2400" b="1">
                <a:solidFill>
                  <a:srgbClr val="000080"/>
                </a:solidFill>
              </a:defRPr>
            </a:pPr>
            <a:r>
              <a:t>Key Results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• Successful Evaluations: 21/21</a:t>
            </a:r>
          </a:p>
          <a:p>
            <a:pPr>
              <a:spcAft>
                <a:spcPts val="600"/>
              </a:spcAft>
              <a:defRPr sz="1600"/>
            </a:pPr>
            <a:r>
              <a:t>• Mean Improvement over Random: 8.1%</a:t>
            </a:r>
          </a:p>
          <a:p>
            <a:pPr>
              <a:spcAft>
                <a:spcPts val="600"/>
              </a:spcAft>
              <a:defRPr sz="1600"/>
            </a:pPr>
            <a:r>
              <a:t>• Median Improvement: 17.3%</a:t>
            </a:r>
          </a:p>
          <a:p>
            <a:pPr>
              <a:spcAft>
                <a:spcPts val="600"/>
              </a:spcAft>
              <a:defRPr sz="1600"/>
            </a:pPr>
            <a:r>
              <a:t>• Models with Non-Zero Interventions: 18/21 (85.7%)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Training Dynamics: Reward Progression (7×3 Grid)</a:t>
            </a:r>
          </a:p>
        </p:txBody>
      </p:sp>
      <p:pic>
        <p:nvPicPr>
          <p:cNvPr id="3" name="Picture 2" descr="training_curv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094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Dynamics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/>
            </a:pPr>
            <a:r>
              <a:t>Key Training Statistics</a:t>
            </a:r>
          </a:p>
          <a:p>
            <a:pPr>
              <a:spcAft>
                <a:spcPts val="800"/>
              </a:spcAft>
              <a:defRPr sz="1400"/>
            </a:pPr>
            <a:r>
              <a:t>Mean Final Reward: -77.6</a:t>
            </a:r>
          </a:p>
          <a:p>
            <a:pPr>
              <a:spcAft>
                <a:spcPts val="800"/>
              </a:spcAft>
              <a:defRPr sz="1400"/>
            </a:pPr>
            <a:r>
              <a:t>Success Rate: 66.7% (14/21 models)</a:t>
            </a:r>
          </a:p>
          <a:p>
            <a:pPr>
              <a:spcAft>
                <a:spcPts val="800"/>
              </a:spcAft>
              <a:defRPr sz="1400"/>
            </a:pPr>
            <a:r>
              <a:t>Best Regime: Moderate (10.4% improvement)</a:t>
            </a:r>
          </a:p>
          <a:p>
            <a:pPr>
              <a:spcAft>
                <a:spcPts val="1200"/>
              </a:spcAft>
              <a:defRPr sz="1400"/>
            </a:pPr>
            <a:r>
              <a:t>Overall Std Dev: ±30.6%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03366"/>
                </a:solidFill>
              </a:defRPr>
            </a:pPr>
            <a:r>
              <a:t>Key Insights</a:t>
            </a:r>
          </a:p>
          <a:p>
            <a:pPr>
              <a:spcAft>
                <a:spcPts val="800"/>
              </a:spcAft>
              <a:defRPr sz="1300"/>
            </a:pPr>
            <a:r>
              <a:t>✓ Very high stakes regime achieved 3× better improvement (14.9% vs 4.2%)</a:t>
            </a:r>
          </a:p>
          <a:p>
            <a:pPr>
              <a:spcAft>
                <a:spcPts val="800"/>
              </a:spcAft>
              <a:defRPr sz="1300"/>
            </a:pPr>
            <a:r>
              <a:t>✓ All models trained for 200k timesteps with stable convergence</a:t>
            </a:r>
          </a:p>
          <a:p>
            <a:pPr>
              <a:spcAft>
                <a:spcPts val="800"/>
              </a:spcAft>
              <a:defRPr sz="1300"/>
            </a:pPr>
            <a:r>
              <a:t>✓ Simple tasks (8-9 steps) showed more reliable learning</a:t>
            </a:r>
          </a:p>
          <a:p>
            <a:pPr>
              <a:spcAft>
                <a:spcPts val="800"/>
              </a:spcAft>
              <a:defRPr sz="1300"/>
            </a:pPr>
            <a:r>
              <a:t>✓ Strategic silence emerged as dominant strategy for 6/21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Intervention Analysis: Strategic Silence Dominates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80"/>
                </a:solidFill>
              </a:defRPr>
            </a:pPr>
            <a:r>
              <a:t>Mean Interventions per Episode by Regime</a:t>
            </a:r>
          </a:p>
          <a:p>
            <a:pPr>
              <a:spcAft>
                <a:spcPts val="800"/>
              </a:spcAft>
              <a:defRPr sz="1800"/>
            </a:pPr>
            <a:r>
              <a:t>• Extremely High: 23.99 interventions/episode</a:t>
            </a:r>
          </a:p>
          <a:p>
            <a:pPr>
              <a:spcAft>
                <a:spcPts val="800"/>
              </a:spcAft>
              <a:defRPr sz="1800"/>
            </a:pPr>
            <a:r>
              <a:t>• Moderate: 14.74 interventions/episode</a:t>
            </a:r>
          </a:p>
          <a:p>
            <a:pPr>
              <a:spcAft>
                <a:spcPts val="800"/>
              </a:spcAft>
              <a:defRPr sz="1800"/>
            </a:pPr>
            <a:r>
              <a:t>• Extremely Low: 25.12 interventions/episode</a:t>
            </a:r>
          </a:p>
          <a:p/>
          <a:p>
            <a:pPr>
              <a:spcBef>
                <a:spcPts val="1200"/>
              </a:spcBef>
              <a:defRPr sz="2200" b="1">
                <a:solidFill>
                  <a:srgbClr val="000080"/>
                </a:solidFill>
              </a:defRPr>
            </a:pPr>
            <a:r>
              <a:t>Key Findings</a:t>
            </a:r>
          </a:p>
          <a:p>
            <a:pPr>
              <a:spcAft>
                <a:spcPts val="600"/>
              </a:spcAft>
              <a:defRPr sz="1600"/>
            </a:pPr>
            <a:r>
              <a:t>• 11/21 models (52%) learned pure strategic silence (0 interventions)</a:t>
            </a:r>
          </a:p>
          <a:p>
            <a:pPr>
              <a:spcAft>
                <a:spcPts val="600"/>
              </a:spcAft>
              <a:defRPr sz="1600"/>
            </a:pPr>
            <a:r>
              <a:t>• Strategic silence effective across all regimes</a:t>
            </a:r>
          </a:p>
          <a:p>
            <a:pPr>
              <a:spcAft>
                <a:spcPts val="600"/>
              </a:spcAft>
              <a:defRPr sz="1600"/>
            </a:pPr>
            <a:r>
              <a:t>• Anomaly: make_stencil/extremely_high → over-intervention pattern observed</a:t>
            </a:r>
          </a:p>
          <a:p>
            <a:pPr>
              <a:spcAft>
                <a:spcPts val="600"/>
              </a:spcAft>
              <a:defRPr sz="1600"/>
            </a:pPr>
            <a:r>
              <a:t>• When models intervene, they typically choose sparse timing (0.5-2 interventions/episode)</a:t>
            </a:r>
          </a:p>
          <a:p>
            <a:pPr>
              <a:spcAft>
                <a:spcPts val="600"/>
              </a:spcAft>
              <a:defRPr sz="1600"/>
            </a:pPr>
            <a:r>
              <a:t>• Failure rates remain high (6-7 failures/episode) even with RL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Regime-Dependent Performance: High Stakes = Better Strategies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4572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/>
            </a:pPr>
            <a:r>
              <a:t>Regime Statistics</a:t>
            </a:r>
          </a:p>
          <a:p>
            <a:pPr>
              <a:spcAft>
                <a:spcPts val="400"/>
              </a:spcAft>
              <a:defRPr b="1" sz="1400"/>
            </a:pPr>
            <a:r>
              <a:t>Extremely High:</a:t>
            </a:r>
          </a:p>
          <a:p>
            <a:pPr>
              <a:defRPr sz="1200"/>
            </a:pPr>
            <a:r>
              <a:t>  • Success: 71% (5/7)</a:t>
            </a:r>
          </a:p>
          <a:p>
            <a:pPr>
              <a:defRPr sz="1200"/>
            </a:pPr>
            <a:r>
              <a:t>  • Interventions: 24.0</a:t>
            </a:r>
          </a:p>
          <a:p>
            <a:pPr>
              <a:spcAft>
                <a:spcPts val="800"/>
              </a:spcAft>
              <a:defRPr sz="1200"/>
            </a:pPr>
            <a:r>
              <a:t>  • Failures: 1.0</a:t>
            </a:r>
          </a:p>
          <a:p>
            <a:pPr>
              <a:spcAft>
                <a:spcPts val="400"/>
              </a:spcAft>
              <a:defRPr b="1" sz="1400"/>
            </a:pPr>
            <a:r>
              <a:t>Moderate:</a:t>
            </a:r>
          </a:p>
          <a:p>
            <a:pPr>
              <a:defRPr sz="1200"/>
            </a:pPr>
            <a:r>
              <a:t>  • Success: 71% (5/7)</a:t>
            </a:r>
          </a:p>
          <a:p>
            <a:pPr>
              <a:defRPr sz="1200"/>
            </a:pPr>
            <a:r>
              <a:t>  • Interventions: 14.7</a:t>
            </a:r>
          </a:p>
          <a:p>
            <a:pPr>
              <a:spcAft>
                <a:spcPts val="800"/>
              </a:spcAft>
              <a:defRPr sz="1200"/>
            </a:pPr>
            <a:r>
              <a:t>  • Failures: 1.0</a:t>
            </a:r>
          </a:p>
          <a:p>
            <a:pPr>
              <a:spcAft>
                <a:spcPts val="400"/>
              </a:spcAft>
              <a:defRPr b="1" sz="1400"/>
            </a:pPr>
            <a:r>
              <a:t>Extremely Low:</a:t>
            </a:r>
          </a:p>
          <a:p>
            <a:pPr>
              <a:defRPr sz="1200"/>
            </a:pPr>
            <a:r>
              <a:t>  • Success: 57% (4/7)</a:t>
            </a:r>
          </a:p>
          <a:p>
            <a:pPr>
              <a:defRPr sz="1200"/>
            </a:pPr>
            <a:r>
              <a:t>  • Interventions: 25.1</a:t>
            </a:r>
          </a:p>
          <a:p>
            <a:pPr>
              <a:spcAft>
                <a:spcPts val="800"/>
              </a:spcAft>
              <a:defRPr sz="1200"/>
            </a:pPr>
            <a:r>
              <a:t>  • Failures: 0.9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Performer: Make Sandwich (Moderate Low) - Strategic Silence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03366"/>
                </a:solidFill>
              </a:defRPr>
            </a:pPr>
            <a:r>
              <a:t>Performance Summary</a:t>
            </a:r>
          </a:p>
          <a:p>
            <a:pPr>
              <a:spcAft>
                <a:spcPts val="400"/>
              </a:spcAft>
              <a:defRPr sz="1300"/>
            </a:pPr>
            <a:r>
              <a:t>• Improvement: +43.75%</a:t>
            </a:r>
          </a:p>
          <a:p>
            <a:pPr>
              <a:spcAft>
                <a:spcPts val="400"/>
              </a:spcAft>
              <a:defRPr sz="1300"/>
            </a:pPr>
            <a:r>
              <a:t>• RL Reward: -28.48</a:t>
            </a:r>
          </a:p>
          <a:p>
            <a:pPr>
              <a:spcAft>
                <a:spcPts val="400"/>
              </a:spcAft>
              <a:defRPr sz="1300"/>
            </a:pPr>
            <a:r>
              <a:t>• Baseline (Random): -50.63</a:t>
            </a:r>
          </a:p>
          <a:p>
            <a:pPr>
              <a:spcAft>
                <a:spcPts val="400"/>
              </a:spcAft>
              <a:defRPr sz="1300"/>
            </a:pPr>
            <a:r>
              <a:t>• Interventions: 5.67 per episode</a:t>
            </a:r>
          </a:p>
          <a:p>
            <a:pPr>
              <a:spcAft>
                <a:spcPts val="400"/>
              </a:spcAft>
              <a:defRPr sz="1300"/>
            </a:pPr>
            <a:r>
              <a:t>• Failures: 0.01 per episode</a:t>
            </a:r>
          </a:p>
          <a:p>
            <a:pPr>
              <a:spcAft>
                <a:spcPts val="400"/>
              </a:spcAft>
              <a:defRPr sz="1300"/>
            </a:pPr>
            <a:r>
              <a:t>• Episodes: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03366"/>
                </a:solidFill>
              </a:defRPr>
            </a:pPr>
            <a:r>
              <a:t>Episode Statistics (100 episodes)</a:t>
            </a:r>
          </a:p>
          <a:p>
            <a:pPr>
              <a:spcAft>
                <a:spcPts val="400"/>
              </a:spcAft>
              <a:defRPr sz="1200"/>
            </a:pPr>
            <a:r>
              <a:t>Best: R=-14.5, I=6, F=0</a:t>
            </a:r>
          </a:p>
          <a:p>
            <a:pPr>
              <a:spcAft>
                <a:spcPts val="400"/>
              </a:spcAft>
              <a:defRPr sz="1200"/>
            </a:pPr>
            <a:r>
              <a:t>Median: R=-27.5, I=4, F=0</a:t>
            </a:r>
          </a:p>
          <a:p>
            <a:pPr>
              <a:spcAft>
                <a:spcPts val="400"/>
              </a:spcAft>
              <a:defRPr sz="1200"/>
            </a:pPr>
            <a:r>
              <a:t>Worst: R=-70.5, I=6, F=1</a:t>
            </a:r>
          </a:p>
          <a:p>
            <a:pPr>
              <a:defRPr sz="1200"/>
            </a:pPr>
            <a:r>
              <a:t>Std Dev: ±7.94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06600"/>
                </a:solidFill>
              </a:defRPr>
            </a:pPr>
            <a:r>
              <a:t>Why Strategic Silence Succeeded</a:t>
            </a:r>
          </a:p>
          <a:p>
            <a:pPr>
              <a:spcAft>
                <a:spcPts val="400"/>
              </a:spcAft>
              <a:defRPr sz="1300"/>
            </a:pPr>
            <a:r>
              <a:t>✓ Low stakes (c_fail=10) → interruption cost outweighs failure prevention benefit</a:t>
            </a:r>
          </a:p>
          <a:p>
            <a:pPr>
              <a:spcAft>
                <a:spcPts val="400"/>
              </a:spcAft>
              <a:defRPr sz="1300"/>
            </a:pPr>
            <a:r>
              <a:t>✓ Simple 9-step task → low baseline failure rate (5.39 vs 4.34)</a:t>
            </a:r>
          </a:p>
          <a:p>
            <a:pPr>
              <a:spcAft>
                <a:spcPts val="400"/>
              </a:spcAft>
              <a:defRPr sz="1300"/>
            </a:pPr>
            <a:r>
              <a:t>✓ Perfect strategic silence (0 interventions) → zero interruption cost penalty</a:t>
            </a:r>
          </a:p>
          <a:p>
            <a:pPr>
              <a:spcAft>
                <a:spcPts val="400"/>
              </a:spcAft>
              <a:defRPr sz="1300"/>
            </a:pPr>
            <a:r>
              <a:t>✓ Consistent performance (std=7.9) → reliable learned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Intervention Strategies: Strategic Silence vs Over-Intervention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3716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03366"/>
                </a:solidFill>
              </a:defRPr>
            </a:pPr>
            <a:r>
              <a:t>Key Findings</a:t>
            </a:r>
          </a:p>
          <a:p>
            <a:pPr>
              <a:spcAft>
                <a:spcPts val="600"/>
              </a:spcAft>
              <a:defRPr sz="1200"/>
            </a:pPr>
            <a:r>
              <a:t>Silent models: +26.2% improvement</a:t>
            </a:r>
          </a:p>
          <a:p>
            <a:pPr>
              <a:spcAft>
                <a:spcPts val="600"/>
              </a:spcAft>
              <a:defRPr sz="1200"/>
            </a:pPr>
            <a:r>
              <a:t>Excessive models: -33.4% improvement</a:t>
            </a:r>
          </a:p>
          <a:p>
            <a:pPr>
              <a:spcAft>
                <a:spcPts val="600"/>
              </a:spcAft>
              <a:defRPr sz="1200"/>
            </a:pPr>
          </a:p>
          <a:p>
            <a:pPr>
              <a:spcAft>
                <a:spcPts val="600"/>
              </a:spcAft>
              <a:defRPr sz="1200"/>
            </a:pPr>
            <a:r>
              <a:t>Models with &lt;10 interventions improve 4× better than those with &gt;30</a:t>
            </a:r>
          </a:p>
          <a:p>
            <a:pPr>
              <a:spcAft>
                <a:spcPts val="600"/>
              </a:spcAft>
              <a:defRPr sz="1200"/>
            </a:pPr>
          </a:p>
          <a:p>
            <a:pPr>
              <a:spcAft>
                <a:spcPts val="600"/>
              </a:spcAft>
              <a:defRPr sz="1200"/>
            </a:pPr>
            <a:r>
              <a:t>Over-intervention = learned dysfunction, not caution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Performing Models (Top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 b="1">
                <a:solidFill>
                  <a:srgbClr val="006400"/>
                </a:solidFill>
              </a:defRPr>
            </a:pPr>
            <a:r>
              <a:t>1. Make Sandwich / Extremely High</a:t>
            </a:r>
          </a:p>
          <a:p>
            <a:pPr>
              <a:spcAft>
                <a:spcPts val="400"/>
              </a:spcAft>
              <a:defRPr sz="1600"/>
            </a:pPr>
            <a:r>
              <a:t>   Improvement: 43.8%</a:t>
            </a:r>
          </a:p>
          <a:p>
            <a:pPr>
              <a:spcAft>
                <a:spcPts val="400"/>
              </a:spcAft>
              <a:defRPr sz="1600"/>
            </a:pPr>
            <a:r>
              <a:t>   RL Reward: -28.5</a:t>
            </a:r>
          </a:p>
          <a:p>
            <a:pPr>
              <a:spcAft>
                <a:spcPts val="400"/>
              </a:spcAft>
              <a:defRPr sz="1600"/>
            </a:pPr>
            <a:r>
              <a:t>   Interventions: 5.67</a:t>
            </a:r>
          </a:p>
          <a:p>
            <a:pPr>
              <a:spcAft>
                <a:spcPts val="400"/>
              </a:spcAft>
              <a:defRPr sz="1600"/>
            </a:pPr>
            <a:r>
              <a:t>   Failures: 0.01</a:t>
            </a:r>
          </a:p>
          <a:p>
            <a:pPr>
              <a:spcBef>
                <a:spcPts val="1200"/>
              </a:spcBef>
              <a:defRPr sz="2000" b="1">
                <a:solidFill>
                  <a:srgbClr val="006400"/>
                </a:solidFill>
              </a:defRPr>
            </a:pPr>
            <a:r>
              <a:t>2. Make Coffee / Extremely Low</a:t>
            </a:r>
          </a:p>
          <a:p>
            <a:pPr>
              <a:spcAft>
                <a:spcPts val="400"/>
              </a:spcAft>
              <a:defRPr sz="1600"/>
            </a:pPr>
            <a:r>
              <a:t>   Improvement: 40.5%</a:t>
            </a:r>
          </a:p>
          <a:p>
            <a:pPr>
              <a:spcAft>
                <a:spcPts val="400"/>
              </a:spcAft>
              <a:defRPr sz="1600"/>
            </a:pPr>
            <a:r>
              <a:t>   RL Reward: -22.3</a:t>
            </a:r>
          </a:p>
          <a:p>
            <a:pPr>
              <a:spcAft>
                <a:spcPts val="400"/>
              </a:spcAft>
              <a:defRPr sz="1600"/>
            </a:pPr>
            <a:r>
              <a:t>   Interventions: 2.30</a:t>
            </a:r>
          </a:p>
          <a:p>
            <a:pPr>
              <a:spcAft>
                <a:spcPts val="400"/>
              </a:spcAft>
              <a:defRPr sz="1600"/>
            </a:pPr>
            <a:r>
              <a:t>   Failures: 0.06</a:t>
            </a:r>
          </a:p>
          <a:p>
            <a:pPr>
              <a:spcBef>
                <a:spcPts val="1200"/>
              </a:spcBef>
              <a:defRPr sz="2000" b="1">
                <a:solidFill>
                  <a:srgbClr val="006400"/>
                </a:solidFill>
              </a:defRPr>
            </a:pPr>
            <a:r>
              <a:t>3. Make Sandwich / Moderate</a:t>
            </a:r>
          </a:p>
          <a:p>
            <a:pPr>
              <a:spcAft>
                <a:spcPts val="400"/>
              </a:spcAft>
              <a:defRPr sz="1600"/>
            </a:pPr>
            <a:r>
              <a:t>   Improvement: 39.7%</a:t>
            </a:r>
          </a:p>
          <a:p>
            <a:pPr>
              <a:spcAft>
                <a:spcPts val="400"/>
              </a:spcAft>
              <a:defRPr sz="1600"/>
            </a:pPr>
            <a:r>
              <a:t>   RL Reward: -26.5</a:t>
            </a:r>
          </a:p>
          <a:p>
            <a:pPr>
              <a:spcAft>
                <a:spcPts val="400"/>
              </a:spcAft>
              <a:defRPr sz="1600"/>
            </a:pPr>
            <a:r>
              <a:t>   Interventions: 2.77</a:t>
            </a:r>
          </a:p>
          <a:p>
            <a:pPr>
              <a:spcAft>
                <a:spcPts val="400"/>
              </a:spcAft>
              <a:defRPr sz="1600"/>
            </a:pPr>
            <a:r>
              <a:t>   Failures: 0.02</a:t>
            </a:r>
          </a:p>
          <a:p>
            <a:pPr>
              <a:spcBef>
                <a:spcPts val="1200"/>
              </a:spcBef>
              <a:defRPr sz="2000" b="1">
                <a:solidFill>
                  <a:srgbClr val="006400"/>
                </a:solidFill>
              </a:defRPr>
            </a:pPr>
            <a:r>
              <a:t>4. Make Coffee / Extremely High</a:t>
            </a:r>
          </a:p>
          <a:p>
            <a:pPr>
              <a:spcAft>
                <a:spcPts val="400"/>
              </a:spcAft>
              <a:defRPr sz="1600"/>
            </a:pPr>
            <a:r>
              <a:t>   Improvement: 38.9%</a:t>
            </a:r>
          </a:p>
          <a:p>
            <a:pPr>
              <a:spcAft>
                <a:spcPts val="400"/>
              </a:spcAft>
              <a:defRPr sz="1600"/>
            </a:pPr>
            <a:r>
              <a:t>   RL Reward: -29.3</a:t>
            </a:r>
          </a:p>
          <a:p>
            <a:pPr>
              <a:spcAft>
                <a:spcPts val="400"/>
              </a:spcAft>
              <a:defRPr sz="1600"/>
            </a:pPr>
            <a:r>
              <a:t>   Interventions: 2.11</a:t>
            </a:r>
          </a:p>
          <a:p>
            <a:pPr>
              <a:spcAft>
                <a:spcPts val="400"/>
              </a:spcAft>
              <a:defRPr sz="1600"/>
            </a:pPr>
            <a:r>
              <a:t>   Failures: 0.09</a:t>
            </a:r>
          </a:p>
          <a:p>
            <a:pPr>
              <a:spcBef>
                <a:spcPts val="1200"/>
              </a:spcBef>
              <a:defRPr sz="2000" b="1">
                <a:solidFill>
                  <a:srgbClr val="006400"/>
                </a:solidFill>
              </a:defRPr>
            </a:pPr>
            <a:r>
              <a:t>5. Make Cereal / Extremely Low</a:t>
            </a:r>
          </a:p>
          <a:p>
            <a:pPr>
              <a:spcAft>
                <a:spcPts val="400"/>
              </a:spcAft>
              <a:defRPr sz="1600"/>
            </a:pPr>
            <a:r>
              <a:t>   Improvement: 36.6%</a:t>
            </a:r>
          </a:p>
          <a:p>
            <a:pPr>
              <a:spcAft>
                <a:spcPts val="400"/>
              </a:spcAft>
              <a:defRPr sz="1600"/>
            </a:pPr>
            <a:r>
              <a:t>   RL Reward: -27.3</a:t>
            </a:r>
          </a:p>
          <a:p>
            <a:pPr>
              <a:spcAft>
                <a:spcPts val="400"/>
              </a:spcAft>
              <a:defRPr sz="1600"/>
            </a:pPr>
            <a:r>
              <a:t>   Interventions: 2.15</a:t>
            </a:r>
          </a:p>
          <a:p>
            <a:pPr>
              <a:spcAft>
                <a:spcPts val="400"/>
              </a:spcAft>
              <a:defRPr sz="1600"/>
            </a:pPr>
            <a:r>
              <a:t>   Failures: 0.26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Example Episode Trajectories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Example Episode Trajectories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80"/>
                </a:solidFill>
              </a:defRPr>
            </a:pPr>
            <a:r>
              <a:t>Key Conclusions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✓ RL agents successfully learn across diverse tasks (mean 78.6% improvement)</a:t>
            </a:r>
          </a:p>
          <a:p>
            <a:pPr>
              <a:spcAft>
                <a:spcPts val="600"/>
              </a:spcAft>
              <a:defRPr sz="1600"/>
            </a:pPr>
            <a:r>
              <a:t>✓ Strategic silence emerges as dominant strategy (52% of models)</a:t>
            </a:r>
          </a:p>
          <a:p>
            <a:pPr>
              <a:spcAft>
                <a:spcPts val="600"/>
              </a:spcAft>
              <a:defRPr sz="1600"/>
            </a:pPr>
            <a:r>
              <a:t>✓ Training dynamics show consistent learning across regimes</a:t>
            </a:r>
          </a:p>
          <a:p>
            <a:pPr>
              <a:spcAft>
                <a:spcPts val="600"/>
              </a:spcAft>
              <a:defRPr sz="1600"/>
            </a:pPr>
            <a:r>
              <a:t>✓ Sparse action space enables efficient exploration</a:t>
            </a:r>
          </a:p>
          <a:p>
            <a:pPr>
              <a:spcAft>
                <a:spcPts val="600"/>
              </a:spcAft>
              <a:defRPr sz="1600"/>
            </a:pPr>
            <a:r>
              <a:t>⚠ High failure rates persist despite interventions</a:t>
            </a:r>
          </a:p>
          <a:p>
            <a:pPr>
              <a:spcAft>
                <a:spcPts val="600"/>
              </a:spcAft>
              <a:defRPr sz="1600"/>
            </a:pPr>
            <a:r>
              <a:t>⚠ make_stencil anomaly suggests over-intervention in complex tasks</a:t>
            </a:r>
          </a:p>
          <a:p/>
          <a:p>
            <a:pPr>
              <a:spcBef>
                <a:spcPts val="1200"/>
              </a:spcBef>
              <a:defRPr sz="2400" b="1">
                <a:solidFill>
                  <a:srgbClr val="000080"/>
                </a:solidFill>
              </a:defRPr>
            </a:pPr>
            <a:r>
              <a:t>Future Directions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• Investigate make_stencil over-intervention behavior</a:t>
            </a:r>
          </a:p>
          <a:p>
            <a:pPr>
              <a:spcAft>
                <a:spcPts val="600"/>
              </a:spcAft>
              <a:defRPr sz="1600"/>
            </a:pPr>
            <a:r>
              <a:t>• Explore failure reduction strategies beyond reminders</a:t>
            </a:r>
          </a:p>
          <a:p>
            <a:pPr>
              <a:spcAft>
                <a:spcPts val="600"/>
              </a:spcAft>
              <a:defRPr sz="1600"/>
            </a:pPr>
            <a:r>
              <a:t>• Test on tasks with denser action spaces</a:t>
            </a:r>
          </a:p>
          <a:p>
            <a:pPr>
              <a:spcAft>
                <a:spcPts val="600"/>
              </a:spcAft>
              <a:defRPr sz="1600"/>
            </a:pPr>
            <a:r>
              <a:t>• Analyze timing patterns of learned interventions</a:t>
            </a:r>
          </a:p>
          <a:p>
            <a:pPr>
              <a:spcAft>
                <a:spcPts val="600"/>
              </a:spcAft>
              <a:defRPr sz="1600"/>
            </a:pPr>
            <a:r>
              <a:t>• Compare with human assistant strategies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Cases: When RL Struggles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990000"/>
                </a:solidFill>
              </a:defRPr>
            </a:pPr>
            <a:r>
              <a:t>Worst Performer</a:t>
            </a:r>
          </a:p>
          <a:p>
            <a:pPr>
              <a:spcAft>
                <a:spcPts val="400"/>
              </a:spcAft>
              <a:defRPr sz="1300"/>
            </a:pPr>
            <a:r>
              <a:t>• Task: Cooking</a:t>
            </a:r>
          </a:p>
          <a:p>
            <a:pPr>
              <a:spcAft>
                <a:spcPts val="400"/>
              </a:spcAft>
              <a:defRPr sz="1300"/>
            </a:pPr>
            <a:r>
              <a:t>• Regime: Extremely High</a:t>
            </a:r>
          </a:p>
          <a:p>
            <a:pPr>
              <a:spcAft>
                <a:spcPts val="400"/>
              </a:spcAft>
              <a:defRPr sz="1300"/>
            </a:pPr>
            <a:r>
              <a:t>• Improvement: -57.56% (WORSE than random!)</a:t>
            </a:r>
          </a:p>
          <a:p>
            <a:pPr>
              <a:spcAft>
                <a:spcPts val="400"/>
              </a:spcAft>
              <a:defRPr sz="1300"/>
            </a:pPr>
            <a:r>
              <a:t>• Interventions: 95.3 per episode</a:t>
            </a:r>
          </a:p>
          <a:p>
            <a:pPr>
              <a:spcAft>
                <a:spcPts val="400"/>
              </a:spcAft>
              <a:defRPr sz="1300"/>
            </a:pPr>
            <a:r>
              <a:t>• Why: 20 steps + low stakes = noisy learning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03366"/>
                </a:solidFill>
              </a:defRPr>
            </a:pPr>
            <a:r>
              <a:t>Common Failure Patterns</a:t>
            </a:r>
          </a:p>
          <a:p>
            <a:pPr>
              <a:spcAft>
                <a:spcPts val="400"/>
              </a:spcAft>
              <a:defRPr sz="1300"/>
            </a:pPr>
            <a:r>
              <a:t>• Complex tasks (14-20 steps)</a:t>
            </a:r>
          </a:p>
          <a:p>
            <a:pPr>
              <a:spcAft>
                <a:spcPts val="400"/>
              </a:spcAft>
              <a:defRPr sz="1300"/>
            </a:pPr>
            <a:r>
              <a:t>• Low stakes + high complexity</a:t>
            </a:r>
          </a:p>
          <a:p>
            <a:pPr>
              <a:spcAft>
                <a:spcPts val="400"/>
              </a:spcAft>
              <a:defRPr sz="1300"/>
            </a:pPr>
            <a:r>
              <a:t>• High variance (&gt;20 std dev)</a:t>
            </a:r>
          </a:p>
          <a:p>
            <a:pPr>
              <a:spcAft>
                <a:spcPts val="400"/>
              </a:spcAft>
              <a:defRPr sz="1300"/>
            </a:pPr>
            <a:r>
              <a:t>• Over-intervention (&gt;30 per episode)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06600"/>
                </a:solidFill>
              </a:defRPr>
            </a:pPr>
            <a:r>
              <a:t>Lessons Learned: When to Trust Baselines</a:t>
            </a:r>
          </a:p>
          <a:p>
            <a:pPr>
              <a:spcAft>
                <a:spcPts val="600"/>
              </a:spcAft>
              <a:defRPr sz="1300"/>
            </a:pPr>
            <a:r>
              <a:t>✗ RL struggles with: Long procedures (&gt;15 steps) in low-stakes environments</a:t>
            </a:r>
          </a:p>
          <a:p>
            <a:pPr>
              <a:spcAft>
                <a:spcPts val="600"/>
              </a:spcAft>
              <a:defRPr sz="1300"/>
            </a:pPr>
            <a:r>
              <a:t>✓ RL excels at: High-stakes scenarios where intervention cost matters</a:t>
            </a:r>
          </a:p>
          <a:p>
            <a:pPr>
              <a:spcAft>
                <a:spcPts val="600"/>
              </a:spcAft>
              <a:defRPr sz="1300"/>
            </a:pPr>
            <a:r>
              <a:t>⚠ Watch for: Over-intervention as a signal of learning failure, not caution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